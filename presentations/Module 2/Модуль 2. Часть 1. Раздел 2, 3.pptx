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3" r:id="rId13"/>
    <p:sldId id="266" r:id="rId14"/>
    <p:sldId id="274" r:id="rId15"/>
    <p:sldId id="275" r:id="rId16"/>
    <p:sldId id="267" r:id="rId17"/>
    <p:sldId id="268" r:id="rId18"/>
    <p:sldId id="269" r:id="rId19"/>
    <p:sldId id="270" r:id="rId20"/>
    <p:sldId id="271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B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26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216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357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A0732-57C1-4EA3-E0B4-5EC5768C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E83C3-40EF-E82D-7FFA-0AE410563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702D4-B160-51CE-086A-839434AF3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2967D-EC0A-DC98-67F2-11E3ADDBF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51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1AACAC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AACAC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2A3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2416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243584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444752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4592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4708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48256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49424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50592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5176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85292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 о д у л ь  2  ·  Ч а с т ь 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1554480"/>
            <a:ext cx="54864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178308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Рекурсия: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обычная и хвостовая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3152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рекурсивные задачи на Haskell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«Функциональное и логическое программирование на Haskell»</a:t>
            </a:r>
            <a:endParaRPr lang="en-US" sz="13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2062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мы изучим сегодня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2 и 3: рекурсия и классические задачи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2468880" cy="54864"/>
          </a:xfrm>
          <a:prstGeom prst="rect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рекурсия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стандартная рекурсия и почему она потребляет много памяти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83280" y="1371600"/>
            <a:ext cx="2468880" cy="54864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0" y="1691640"/>
            <a:ext cx="502920" cy="502920"/>
          </a:xfrm>
          <a:prstGeom prst="ellipse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Хвостовая рекурсия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616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через аккумулятор — константное использование стека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46888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задачи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Ханойские башни, обход дерева, бинарный поиск — рекурсия на практике</a:t>
            </a:r>
            <a:endParaRPr lang="en-US" sz="12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3484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0120" y="44074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Рекурсия — основной механизм повторения в функциональном программировании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Рекурсия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циклов — функция вызывает сама себя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203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рекурсия?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Haskell нет циклов for/while.</a:t>
            </a:r>
            <a:r>
              <a:rPr lang="ru-RU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Рекурсия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</a:t>
            </a:r>
            <a:r>
              <a:rPr lang="ru-RU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повторного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выполнения.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рекурсивный вызов: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Базовый случай (остановка)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Рекурсивный случай (шаг)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рекурсии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CAC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f </a:t>
            </a:r>
            <a:r>
              <a:rPr lang="en-US" sz="1300" dirty="0">
                <a:solidFill>
                  <a:srgbClr val="F0A030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базовый_случай</a:t>
            </a:r>
            <a:r>
              <a:rPr lang="en-US" sz="1300" dirty="0">
                <a:solidFill>
                  <a:srgbClr val="5A6A7A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 = результат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ACAC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f </a:t>
            </a:r>
            <a:r>
              <a:rPr lang="en-US" sz="1300" dirty="0">
                <a:solidFill>
                  <a:srgbClr val="E8564A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x</a:t>
            </a:r>
            <a:r>
              <a:rPr lang="en-US" sz="1300" dirty="0">
                <a:solidFill>
                  <a:srgbClr val="5A6A7A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 = ... </a:t>
            </a:r>
            <a:r>
              <a:rPr lang="en-US" sz="1300" dirty="0">
                <a:solidFill>
                  <a:srgbClr val="E8564A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f (уменьшение x)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Пример: длина списка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length' []     = 0</a:t>
            </a:r>
            <a:endParaRPr lang="en-US" sz="11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length' (_:xs) = 1 + length' xs</a:t>
            </a:r>
            <a:endParaRPr lang="en-US" sz="1100" dirty="0">
              <a:latin typeface="AudioLink Console Medium" panose="020B0009020204030204" pitchFamily="49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7863840" cy="164592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2735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сумма списка — обычная рекурсия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56616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 :: ???</a:t>
            </a:r>
          </a:p>
          <a:p>
            <a:pPr marL="0" indent="0">
              <a:buNone/>
            </a:pPr>
            <a:endParaRPr lang="en-US" sz="1200" dirty="0">
              <a:solidFill>
                <a:srgbClr val="F0A03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F0A03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F0A030"/>
              </a:solidFill>
              <a:latin typeface="Consolas" pitchFamily="34" charset="0"/>
              <a:cs typeface="Consolas" pitchFamily="34" charset="-120"/>
            </a:endParaRP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4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75C11-CE0C-41E5-4515-3B96D9194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F4093F-D959-F18A-92DE-E5DB0BFD27FF}"/>
              </a:ext>
            </a:extLst>
          </p:cNvPr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05D1AA-5E90-4CFE-EA5F-844884204623}"/>
              </a:ext>
            </a:extLst>
          </p:cNvPr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Рекурсия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526CFA-B200-01AD-FB87-F268FA6C4F39}"/>
              </a:ext>
            </a:extLst>
          </p:cNvPr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циклов — функция вызывает сама себя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F083FEE-93D6-A7B6-0E08-CC2750C4DCC8}"/>
              </a:ext>
            </a:extLst>
          </p:cNvPr>
          <p:cNvSpPr/>
          <p:nvPr/>
        </p:nvSpPr>
        <p:spPr>
          <a:xfrm>
            <a:off x="640080" y="128016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C50399A-AF39-4D8B-D198-4B797592735F}"/>
              </a:ext>
            </a:extLst>
          </p:cNvPr>
          <p:cNvSpPr/>
          <p:nvPr/>
        </p:nvSpPr>
        <p:spPr>
          <a:xfrm>
            <a:off x="822960" y="13203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рекурсия?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49C819F-B0BF-D356-AE18-2849846B0ADC}"/>
              </a:ext>
            </a:extLst>
          </p:cNvPr>
          <p:cNvSpPr/>
          <p:nvPr/>
        </p:nvSpPr>
        <p:spPr>
          <a:xfrm>
            <a:off x="82296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Haskell нет циклов for/while.</a:t>
            </a:r>
            <a:r>
              <a:rPr lang="ru-RU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Рекурсия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00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</a:t>
            </a:r>
            <a:r>
              <a:rPr lang="ru-RU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повторного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выполнения.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рекурсивный вызов: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Базовый случай (остановка)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Рекурсивный случай (шаг)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11AF5E3-67ED-AB32-1DF5-629358FF1403}"/>
              </a:ext>
            </a:extLst>
          </p:cNvPr>
          <p:cNvSpPr/>
          <p:nvPr/>
        </p:nvSpPr>
        <p:spPr>
          <a:xfrm>
            <a:off x="4754880" y="128016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08DCD54-EA30-3B39-BEC5-8CAD4CAAD5F4}"/>
              </a:ext>
            </a:extLst>
          </p:cNvPr>
          <p:cNvSpPr/>
          <p:nvPr/>
        </p:nvSpPr>
        <p:spPr>
          <a:xfrm>
            <a:off x="49377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рекурсии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AC2D5EC-B077-E974-3DAF-5963F68B8449}"/>
              </a:ext>
            </a:extLst>
          </p:cNvPr>
          <p:cNvSpPr/>
          <p:nvPr/>
        </p:nvSpPr>
        <p:spPr>
          <a:xfrm>
            <a:off x="493776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ACAC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f </a:t>
            </a:r>
            <a:r>
              <a:rPr lang="en-US" sz="1300" dirty="0">
                <a:solidFill>
                  <a:srgbClr val="F0A030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базовый_случай</a:t>
            </a:r>
            <a:r>
              <a:rPr lang="en-US" sz="1300" dirty="0">
                <a:solidFill>
                  <a:srgbClr val="5A6A7A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 = результат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ACAC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f </a:t>
            </a:r>
            <a:r>
              <a:rPr lang="en-US" sz="1300" dirty="0">
                <a:solidFill>
                  <a:srgbClr val="E8564A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x</a:t>
            </a:r>
            <a:r>
              <a:rPr lang="en-US" sz="1300" dirty="0">
                <a:solidFill>
                  <a:srgbClr val="5A6A7A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 = ... </a:t>
            </a:r>
            <a:r>
              <a:rPr lang="en-US" sz="1300" dirty="0">
                <a:solidFill>
                  <a:srgbClr val="E8564A"/>
                </a:solidFill>
                <a:latin typeface="Consolas" pitchFamily="34" charset="0"/>
                <a:ea typeface="STIX Two Math" panose="02020603050405020304" pitchFamily="18" charset="0"/>
                <a:cs typeface="Consolas" pitchFamily="34" charset="-120"/>
              </a:rPr>
              <a:t>f (уменьшение x)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D16554-1E5A-60FA-984C-48BB7C873B07}"/>
              </a:ext>
            </a:extLst>
          </p:cNvPr>
          <p:cNvSpPr/>
          <p:nvPr/>
        </p:nvSpPr>
        <p:spPr>
          <a:xfrm>
            <a:off x="493776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Пример: длина списка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length' []     = 0</a:t>
            </a:r>
            <a:endParaRPr lang="en-US" sz="11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length' (_:xs) = 1 + length' xs</a:t>
            </a:r>
            <a:endParaRPr lang="en-US" sz="1100" dirty="0">
              <a:latin typeface="AudioLink Console Medium" panose="020B0009020204030204" pitchFamily="49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3847029-3B63-308E-42F0-8CC179485389}"/>
              </a:ext>
            </a:extLst>
          </p:cNvPr>
          <p:cNvSpPr/>
          <p:nvPr/>
        </p:nvSpPr>
        <p:spPr>
          <a:xfrm>
            <a:off x="640080" y="3200400"/>
            <a:ext cx="7863840" cy="164592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A9A5F93-BE30-76FA-96B2-1F0CEA761F96}"/>
              </a:ext>
            </a:extLst>
          </p:cNvPr>
          <p:cNvSpPr/>
          <p:nvPr/>
        </p:nvSpPr>
        <p:spPr>
          <a:xfrm>
            <a:off x="822960" y="32735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сумма списка — обычная рекурсия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D6C7E0F-865A-C1A2-F8FB-0B75000003D4}"/>
              </a:ext>
            </a:extLst>
          </p:cNvPr>
          <p:cNvSpPr/>
          <p:nvPr/>
        </p:nvSpPr>
        <p:spPr>
          <a:xfrm>
            <a:off x="822960" y="3566160"/>
            <a:ext cx="7498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 :: [Int] -&gt; Int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</a:t>
            </a: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[]     = 0                -- </a:t>
            </a:r>
            <a:r>
              <a:rPr lang="en-US" sz="1200" dirty="0" err="1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базовый</a:t>
            </a: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случай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</a:t>
            </a: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200" dirty="0" err="1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x:xs</a:t>
            </a: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= x + </a:t>
            </a:r>
            <a:r>
              <a:rPr lang="en-US" sz="1200" dirty="0" err="1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</a:t>
            </a: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</a:t>
            </a: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-- </a:t>
            </a:r>
            <a:r>
              <a:rPr lang="en-US" sz="1200" dirty="0" err="1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рекурсивный</a:t>
            </a: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 err="1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случай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</a:t>
            </a:r>
            <a:r>
              <a:rPr lang="en-US" sz="1200" dirty="0" err="1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</a:t>
            </a: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[1,2,3] = 1 + (2 + (3 + 0)) = 6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78862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Обычная рекурсия: стек вызовов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растёт стек при вычислении sumList [1,2,3,4,5]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54864" cy="384048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 [1,2,3,4,5]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13258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1 + sumList [2,3,4,5]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54864" cy="384048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 [2,3,4,5]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18288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2 + sumList [3,4,5]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331720"/>
            <a:ext cx="54864" cy="384048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34440" y="2331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 [3,4,5]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3317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3 + sumList [4,5]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88720" y="2834640"/>
            <a:ext cx="54864" cy="384048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17320" y="28346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 [4,5]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8346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4 + sumList [5]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3337560"/>
            <a:ext cx="54864" cy="384048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00200" y="3337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 [5]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0" y="33375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5 + sumList []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54480" y="3840480"/>
            <a:ext cx="54864" cy="384048"/>
          </a:xfrm>
          <a:prstGeom prst="rect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783080" y="3840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 []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38404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0  ← базовый случай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434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Разворачивание: </a:t>
            </a:r>
            <a:r>
              <a:rPr lang="en-US" sz="120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5+0=5 → 4+5=9 → 3+9=12 → 2+12=14 → 1+14 = </a:t>
            </a: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Проблема: потребление памяти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рекурсия накапливает отложенные вычисления в стеке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рекурсия: O(n) памяти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1828800" cy="182880"/>
          </a:xfrm>
          <a:prstGeom prst="rect">
            <a:avLst/>
          </a:prstGeom>
          <a:solidFill>
            <a:srgbClr val="E8564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1764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 [1..5]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2103120" cy="182880"/>
          </a:xfrm>
          <a:prstGeom prst="rect">
            <a:avLst/>
          </a:prstGeom>
          <a:solidFill>
            <a:srgbClr val="E8564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19933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▪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2240280"/>
            <a:ext cx="2377440" cy="182880"/>
          </a:xfrm>
          <a:prstGeom prst="rect">
            <a:avLst/>
          </a:prstGeom>
          <a:solidFill>
            <a:srgbClr val="E8564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2221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+ ▪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2468880"/>
            <a:ext cx="2651760" cy="182880"/>
          </a:xfrm>
          <a:prstGeom prst="rect">
            <a:avLst/>
          </a:prstGeom>
          <a:solidFill>
            <a:srgbClr val="E8564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24505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+ ▪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" y="2697480"/>
            <a:ext cx="2926080" cy="182880"/>
          </a:xfrm>
          <a:prstGeom prst="rect">
            <a:avLst/>
          </a:prstGeom>
          <a:solidFill>
            <a:srgbClr val="E8564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2679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+ ▪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" y="2926080"/>
            <a:ext cx="3200400" cy="182880"/>
          </a:xfrm>
          <a:prstGeom prst="rect">
            <a:avLst/>
          </a:prstGeom>
          <a:solidFill>
            <a:srgbClr val="E8564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290779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+ 0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280160"/>
            <a:ext cx="37490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17373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вызов добавляет кадр в стек.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Вычисление отложено до базового случая.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списка из N элементов нужно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кадров стека одновременно.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больших данных (10⁶+ элементов)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приводит к Stack Overflow.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7863840" cy="132588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3639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 GHCi: потребление памяти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9319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Обычная рекурсия: переполнение стека на больших списках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sumList [1..1000000]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 Exception: stack overflow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:set +s  -- включить статистику времени и памяти в GHCi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Решение: хвостовая рекурсия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recursion — рекурсивный вызов является последней операцией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7490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накапливается в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аккумуляторе (дополнительном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параметре), а не в стеке.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Рекурсивный вызов — последняя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операция → компилятор может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оптимизировать (tail call optimization).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7490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783080"/>
          <a:ext cx="3383280" cy="8280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Обычная</a:t>
                      </a: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Хвостовая</a:t>
                      </a:r>
                      <a:endParaRPr lang="en-US" sz="11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A3A"/>
                          </a:solidFill>
                        </a:rPr>
                        <a:t>Память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564A"/>
                          </a:solidFill>
                        </a:rPr>
                        <a:t>O(n)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A043"/>
                          </a:solidFill>
                        </a:rPr>
                        <a:t>O(1)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A3A"/>
                          </a:solidFill>
                        </a:rPr>
                        <a:t>Стек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564A"/>
                          </a:solidFill>
                        </a:rPr>
                        <a:t>Растёт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A043"/>
                          </a:solidFill>
                        </a:rPr>
                        <a:t>Const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2A3A"/>
                          </a:solidFill>
                        </a:rPr>
                        <a:t>Вычисл.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8564A"/>
                          </a:solidFill>
                        </a:rPr>
                        <a:t>Отложено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EA043"/>
                          </a:solidFill>
                        </a:rPr>
                        <a:t>Сразу</a:t>
                      </a:r>
                      <a:endParaRPr lang="en-US" sz="1000" dirty="0"/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3291840"/>
            <a:ext cx="3749040" cy="155448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3364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рекурсия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36576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 [] =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sumList (x:xs)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 + sumList xs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 ^^ после рекурсии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 ещё нужно сложить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3291840"/>
            <a:ext cx="3749040" cy="155448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0" y="3364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Хвостовая рекурсия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37760" y="36576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sumTail xs = go 0 xs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 acc []     = acc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 acc (x:xs) =</a:t>
            </a: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go (acc + x) xs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Хвостовая рекурсия: трассировка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sumTail [1,2,3,4,5] — аккумулятор вместо стека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17221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Шаг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Вызов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Список</a:t>
                      </a:r>
                      <a:endParaRPr lang="en-US" sz="1200" dirty="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 0 [1,2,3,4,5]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A0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[1,2,3,4,5]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 1 [2,3,4,5]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A0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0+1 =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[2,3,4,5]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 3 [3,4,5]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A0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1+2 = 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[3,4,5]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 6 [4,5]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A0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3+3 = 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[4,5]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 10 [5]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0A0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6+4 = 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go 15 []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10+5 = 15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[]  ✓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94760"/>
            <a:ext cx="274320" cy="274320"/>
          </a:xfrm>
          <a:prstGeom prst="rect">
            <a:avLst/>
          </a:prstGeom>
        </p:spPr>
      </p:pic>
      <p:sp>
        <p:nvSpPr>
          <p:cNvPr id="5" name="Text 4"/>
          <p:cNvSpPr/>
          <p:nvPr/>
        </p:nvSpPr>
        <p:spPr>
          <a:xfrm>
            <a:off x="1234440" y="37033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Обратите внимание: </a:t>
            </a: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шаге стек не растёт. Предыдущий кадр заменяется новым. Результат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накапливается в acc, а не в отложенных операциях.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r>
              <a:rPr lang="en-US" sz="14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15 [] → acc = 15</a:t>
            </a: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(без переполнения стека!)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Практика: измерение в GHCi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потребления памяти на больших списках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749040" cy="201168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рекурсия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:set +s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sumList [1..100000]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5000050000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(0.08 secs, 18,523,456 bytes)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sumList [1..10000000]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 Exception: stack overflow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201168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Хвостовая рекурсия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:set +s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sumTail [1..100000]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5000050000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(0.03 secs, 9,623,120 bytes)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sumTail [1..10000000]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50000005000000 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78638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3566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Совет: foldl' — встроенная строгая свёртка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34440" y="3886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Haskell ленивый foldl может накапливать thunks (отложенные вычисления).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Используйте строгий foldl' из Data.List для гарантированной оптимизации: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34440" y="4343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Data.List (foldl')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47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sum' xs = foldl' (+) 0 xs   -- строгая свёртка, O(1) памяти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486400" cy="5486400"/>
          </a:xfrm>
          <a:prstGeom prst="ellipse">
            <a:avLst/>
          </a:prstGeom>
          <a:solidFill>
            <a:srgbClr val="1AACAC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0" y="0"/>
            <a:ext cx="4572000" cy="4572000"/>
          </a:xfrm>
          <a:prstGeom prst="ellipse">
            <a:avLst/>
          </a:prstGeom>
          <a:solidFill>
            <a:srgbClr val="1AACAC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2416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43584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44752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4592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4708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48256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49424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5176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5292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а д а ч а  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1828800"/>
            <a:ext cx="54864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20574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Классические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рекурсивные задачи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Ханойские башни · Обход дерева · Бинарный поиск</a:t>
            </a:r>
            <a:endParaRPr lang="en-US" sz="14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2062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Ханойские башни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задача на рекурсивную декомпозицию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Переместить n дисков с колышка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колышек C, используя B как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вспомогательный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ru-RU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Диски упорядочены.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Перемещать по одному диску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Нельзя класть большой на малый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Рекурсивная идея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0" y="1691640"/>
            <a:ext cx="274320" cy="274320"/>
          </a:xfrm>
          <a:prstGeom prst="ellipse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Переместить n-1 дисков A → 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039112"/>
            <a:ext cx="274320" cy="274320"/>
          </a:xfrm>
          <a:prstGeom prst="ellipse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40680" y="2020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Переместить 1 диск A → 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2386584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0" y="2386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40680" y="2368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Переместить n-1 дисков B → 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743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ходов: 2ⁿ - 1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7863840" cy="169164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3383280"/>
            <a:ext cx="7498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Peg = String;  type Move = (Peg, Peg)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hanoi :: Int -&gt; Peg -&gt; Peg -&gt; Peg -&gt; [Move]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hanoi 0 _ _ _ = []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hanoi n from to aux =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hanoi (n-1) from aux to   -- n-1 дисков: from → aux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++ [(from, to)]           -- 1 диск: from → to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++ hanoi (n-1) aux to from -- n-1 дисков: aux → to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Ханойские башни: разбор для n =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ходов = 2³ – 1. Прослеживаем каждый рекурсивный вызов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754880" cy="379476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704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рекурсивных вызовов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hanoi 3 A C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hanoi 2 A B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hanoi 1 A C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│  └─ Move A → C       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Move A → B          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hanoi 1 C B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└─ Move C → B       ③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Move A → C             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hanoi 2 B C 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hanoi 1 B A 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│  └─ Move B → A       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├─ Move B → C          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hanoi 1 A C 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 Move A → C       ⑦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1097280"/>
            <a:ext cx="3474720" cy="379476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77840" y="1170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Последовательность ходов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577840" y="1508760"/>
          <a:ext cx="3108960" cy="18288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Ход</a:t>
                      </a:r>
                      <a:endParaRPr lang="en-US" sz="10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Перемещение</a:t>
                      </a:r>
                      <a:endParaRPr lang="en-US" sz="10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Диск</a:t>
                      </a:r>
                      <a:endParaRPr lang="en-US" sz="1000" dirty="0"/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A0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①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→ 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маленький диск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A0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②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→ 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средний диск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A0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③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 → 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маленький диск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④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→ 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большой диск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A0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⑤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 → 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маленький диск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A0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⑥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 → 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средний диск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A0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⑦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→ 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CDD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маленький диск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E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577840" y="3429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хода ④ — большой диск на месте: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4480560"/>
            <a:ext cx="731520" cy="54864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81344" y="3794760"/>
            <a:ext cx="73152" cy="685800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52160" y="4572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66560" y="4480560"/>
            <a:ext cx="731520" cy="54864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095744" y="3794760"/>
            <a:ext cx="73152" cy="685800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66560" y="4572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80960" y="4480560"/>
            <a:ext cx="731520" cy="54864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010144" y="3794760"/>
            <a:ext cx="73152" cy="685800"/>
          </a:xfrm>
          <a:prstGeom prst="rect">
            <a:avLst/>
          </a:prstGeom>
          <a:solidFill>
            <a:srgbClr val="5A7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680960" y="4572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03720" y="4306824"/>
            <a:ext cx="457200" cy="164592"/>
          </a:xfrm>
          <a:prstGeom prst="rect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944310" y="4142232"/>
            <a:ext cx="365760" cy="164592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726680" y="4306824"/>
            <a:ext cx="640080" cy="164592"/>
          </a:xfrm>
          <a:prstGeom prst="rect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79" y="274320"/>
            <a:ext cx="8312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Обход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бинарного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дерева</a:t>
            </a:r>
            <a:r>
              <a:rPr lang="ru-RU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</a:t>
            </a: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DFS, not BFS)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Рекурсивная структура данных → рекурсивный обход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4114800" cy="146304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Определение типа дерева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Tree a</a:t>
            </a: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Leaf</a:t>
            </a:r>
            <a:endParaRPr lang="en-US" sz="1200" dirty="0"/>
          </a:p>
          <a:p>
            <a:pPr marL="0" indent="0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Node (Tree a) a (Tree a)</a:t>
            </a:r>
            <a:endParaRPr lang="en-US" sz="1200" dirty="0"/>
          </a:p>
          <a:p>
            <a:r>
              <a:rPr lang="en-US" sz="13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CCDDEE"/>
                </a:solidFill>
                <a:latin typeface="Consolas" pitchFamily="34" charset="0"/>
                <a:cs typeface="Consolas" pitchFamily="34" charset="-120"/>
              </a:rPr>
              <a:t>deriving (Show</a:t>
            </a: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Node (Node Leaf 1 Leaf) 2 (Node Leaf 3 Leaf)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3474720" cy="1463040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0" y="13716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дерева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1691640"/>
            <a:ext cx="366875" cy="365760"/>
          </a:xfrm>
          <a:prstGeom prst="ellipse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1691640"/>
            <a:ext cx="3668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15000" y="2286000"/>
            <a:ext cx="320040" cy="320040"/>
          </a:xfrm>
          <a:prstGeom prst="ellipse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1500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78040" y="2286000"/>
            <a:ext cx="320040" cy="320040"/>
          </a:xfrm>
          <a:prstGeom prst="ellipse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7804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 flipH="1">
            <a:off x="5989320" y="1979341"/>
            <a:ext cx="502920" cy="365761"/>
          </a:xfrm>
          <a:prstGeom prst="line">
            <a:avLst/>
          </a:prstGeom>
          <a:noFill/>
          <a:ln w="19050">
            <a:solidFill>
              <a:srgbClr val="5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66560" y="2011680"/>
            <a:ext cx="502920" cy="320040"/>
          </a:xfrm>
          <a:prstGeom prst="line">
            <a:avLst/>
          </a:prstGeom>
          <a:noFill/>
          <a:ln w="19050">
            <a:solidFill>
              <a:srgbClr val="5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2606040" cy="192024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044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inorder Leaf =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inorder (Node l v 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inorder 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++ [v]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++ inorder 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[1, 2, 3]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2971800"/>
            <a:ext cx="2606040" cy="192024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11880" y="3044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11880" y="333756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preorder Leaf =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preorder (Node l v 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[v]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++ preorder 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++ preorder 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[2, 1, 3]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971800"/>
            <a:ext cx="2606040" cy="192024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0" y="3044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33756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postorder Leaf = []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postorder (Node l v 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postorder 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++ postorder 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++ [v]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[1, 3, 2]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37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Обход дерева: пошаговая трассировка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Разбираем inorder для дерева Node (Node Leaf 1 Leaf) 3 (Node Leaf 5 Leaf)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29184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417320"/>
            <a:ext cx="457200" cy="457200"/>
          </a:xfrm>
          <a:prstGeom prst="ellipse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80160" y="2103120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01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2103120"/>
            <a:ext cx="457200" cy="457200"/>
          </a:xfrm>
          <a:prstGeom prst="ellipse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 flipH="1">
            <a:off x="1600200" y="1682496"/>
            <a:ext cx="411480" cy="45720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68880" y="1682496"/>
            <a:ext cx="365760" cy="457200"/>
          </a:xfrm>
          <a:prstGeom prst="line">
            <a:avLst/>
          </a:prstGeom>
          <a:noFill/>
          <a:ln w="19050">
            <a:solidFill>
              <a:srgbClr val="AAB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48740" y="26491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11680" y="26426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20340" y="26426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2788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</a:t>
            </a: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левое → корень → правое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60520" y="1051560"/>
            <a:ext cx="45262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43400" y="11155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Трассировка inorder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3400" y="1389888"/>
            <a:ext cx="4160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inorder (Node (Node Leaf 1 Leaf) 3 (Node Leaf 5 Leaf))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inorder (Node Leaf 1 Leaf) ++ [3] ++ inorder (Node Leaf 5 Leaf)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inorder (Node Leaf 1 Leaf)  =  [] ++ [1] ++ []  =  [1]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inorder (Node Leaf 5 Leaf)  =  [] ++ [5] ++ []  =  [5]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EA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[1] ++ [3] ++ [5]  =  [1, 3, 5]  ✓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640080" y="3246120"/>
          <a:ext cx="7863840" cy="10769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Обход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Порядок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Трассировка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Результат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Inorder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A7A"/>
                          </a:solidFill>
                        </a:rPr>
                        <a:t>Лево → Корень → Право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inorder L ++ [3] ++ inorder 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A04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3, 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Preorder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A7A"/>
                          </a:solidFill>
                        </a:rPr>
                        <a:t>Корень → Лево → Право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[3] ++ preorder L ++ preorder 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0A03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[3, 1, 5]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7878"/>
                          </a:solidFill>
                        </a:rPr>
                        <a:t>Postorder</a:t>
                      </a:r>
                      <a:endParaRPr lang="en-US" sz="11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A7A"/>
                          </a:solidFill>
                        </a:rPr>
                        <a:t>Лево → Право → Корень</a:t>
                      </a:r>
                      <a:endParaRPr lang="en-US" sz="100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postorder L ++ postorder R ++ [3]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6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[1, 5, 3]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663440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32688" y="4645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на BST (дереве поиска) всегда даёт отсортированный список!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Бинарный поиск: пошаговый разбор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Ищем число 11 в массиве [1, 3, 5, 7, 9, 11, 13, 15, 17]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097280"/>
            <a:ext cx="713232" cy="457200"/>
          </a:xfrm>
          <a:prstGeom prst="rect">
            <a:avLst/>
          </a:prstGeom>
          <a:solidFill>
            <a:srgbClr val="1E2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572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72768" y="1097280"/>
            <a:ext cx="713232" cy="457200"/>
          </a:xfrm>
          <a:prstGeom prst="rect">
            <a:avLst/>
          </a:prstGeom>
          <a:solidFill>
            <a:srgbClr val="1E2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72768" y="10972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72768" y="1572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22576" y="1097280"/>
            <a:ext cx="713232" cy="457200"/>
          </a:xfrm>
          <a:prstGeom prst="rect">
            <a:avLst/>
          </a:prstGeom>
          <a:solidFill>
            <a:srgbClr val="1E2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22576" y="10972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22576" y="1572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72384" y="1097280"/>
            <a:ext cx="713232" cy="457200"/>
          </a:xfrm>
          <a:prstGeom prst="rect">
            <a:avLst/>
          </a:prstGeom>
          <a:solidFill>
            <a:srgbClr val="1E2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72384" y="10972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72384" y="1572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22192" y="1097280"/>
            <a:ext cx="713232" cy="457200"/>
          </a:xfrm>
          <a:prstGeom prst="rect">
            <a:avLst/>
          </a:prstGeom>
          <a:solidFill>
            <a:srgbClr val="F0A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22192" y="10972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22192" y="1572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713232" cy="457200"/>
          </a:xfrm>
          <a:prstGeom prst="rect">
            <a:avLst/>
          </a:prstGeom>
          <a:solidFill>
            <a:srgbClr val="1E2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10972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1572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321808" y="1097280"/>
            <a:ext cx="713232" cy="457200"/>
          </a:xfrm>
          <a:prstGeom prst="rect">
            <a:avLst/>
          </a:prstGeom>
          <a:solidFill>
            <a:srgbClr val="1E2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21808" y="10972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21808" y="1572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71616" y="1097280"/>
            <a:ext cx="713232" cy="457200"/>
          </a:xfrm>
          <a:prstGeom prst="rect">
            <a:avLst/>
          </a:prstGeom>
          <a:solidFill>
            <a:srgbClr val="1E2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71616" y="10972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71616" y="1572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21424" y="1097280"/>
            <a:ext cx="713232" cy="457200"/>
          </a:xfrm>
          <a:prstGeom prst="rect">
            <a:avLst/>
          </a:prstGeom>
          <a:solidFill>
            <a:srgbClr val="1E2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21424" y="109728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21424" y="1572768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" y="175564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&lt; 11 → ищем справа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8961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lo=0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22192" y="8961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A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mid=4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21424" y="8961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hi=8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" y="233172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22960" y="233172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1572768" y="233172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572768" y="233172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322576" y="233172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22576" y="233172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072384" y="233172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072384" y="233172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822192" y="233172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822192" y="233172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72000" y="2331720"/>
            <a:ext cx="713232" cy="457200"/>
          </a:xfrm>
          <a:prstGeom prst="rect">
            <a:avLst/>
          </a:prstGeom>
          <a:solidFill>
            <a:srgbClr val="1E2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572000" y="233172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321808" y="2331720"/>
            <a:ext cx="713232" cy="457200"/>
          </a:xfrm>
          <a:prstGeom prst="rect">
            <a:avLst/>
          </a:prstGeom>
          <a:solidFill>
            <a:srgbClr val="E856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21808" y="233172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071616" y="2331720"/>
            <a:ext cx="713232" cy="457200"/>
          </a:xfrm>
          <a:prstGeom prst="rect">
            <a:avLst/>
          </a:prstGeom>
          <a:solidFill>
            <a:srgbClr val="1E2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071616" y="233172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6821424" y="2331720"/>
            <a:ext cx="713232" cy="457200"/>
          </a:xfrm>
          <a:prstGeom prst="rect">
            <a:avLst/>
          </a:prstGeom>
          <a:solidFill>
            <a:srgbClr val="1E2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21424" y="233172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22960" y="280720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&gt; 11 → ищем слева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74320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22960" y="356616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22960" y="35661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1572768" y="356616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572768" y="35661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322576" y="356616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322576" y="35661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072384" y="356616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072384" y="35661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822192" y="356616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822192" y="35661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572000" y="3566160"/>
            <a:ext cx="713232" cy="457200"/>
          </a:xfrm>
          <a:prstGeom prst="rect">
            <a:avLst/>
          </a:prstGeom>
          <a:solidFill>
            <a:srgbClr val="2EA0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572000" y="35661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5321808" y="356616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321808" y="35661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6071616" y="356616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071616" y="35661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821424" y="3566160"/>
            <a:ext cx="713232" cy="457200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821424" y="356616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4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822960" y="404164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== 11 → Найдено! ✓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34840"/>
            <a:ext cx="228600" cy="228600"/>
          </a:xfrm>
          <a:prstGeom prst="rect">
            <a:avLst/>
          </a:prstGeom>
        </p:spPr>
      </p:pic>
      <p:sp>
        <p:nvSpPr>
          <p:cNvPr id="79" name="Text 76"/>
          <p:cNvSpPr/>
          <p:nvPr/>
        </p:nvSpPr>
        <p:spPr>
          <a:xfrm>
            <a:off x="1188720" y="4343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шага </a:t>
            </a: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9 (линейный поиск).  Для массива из </a:t>
            </a:r>
            <a:r>
              <a:rPr lang="en-US" sz="13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элементов бинарный поиск делает не более </a:t>
            </a:r>
            <a:r>
              <a:rPr lang="en-US" sz="13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⌈log₂ n⌉</a:t>
            </a: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сравнений.  Для 1 000 000 — всего 20 шагов!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Бинарный поиск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элемента в отсортированном списке за O(log n)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Рекурсивная идея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Отсортированный массив делим пополам.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Сравниваем средний элемент с целью: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Равен → нашли!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Меньше → ищем в правой половине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Больше → ищем в левой половине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шаг уменьшает область вдвое.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поиск 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3, 5, 7, 9, 11, 13]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A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 = arr[3] = 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1488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== 7 → Найдено! Индекс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поиска 3: 7&gt;3 → левая часть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3, 5] → mid=3 → Найдено!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7863840" cy="182880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1363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Haskell (с использованием Array)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42900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  <a:buNone/>
            </a:pPr>
            <a:r>
              <a:rPr lang="en-CA" sz="800" b="0" dirty="0">
                <a:solidFill>
                  <a:srgbClr val="17A7EA"/>
                </a:solidFill>
                <a:effectLst/>
                <a:latin typeface="AudioLink Console Medium" panose="020B0009020204030204" pitchFamily="49" charset="0"/>
              </a:rPr>
              <a:t>import</a:t>
            </a:r>
            <a:r>
              <a:rPr lang="en-CA" sz="800" b="0" dirty="0">
                <a:solidFill>
                  <a:srgbClr val="ABB2BF"/>
                </a:solidFill>
                <a:effectLst/>
                <a:latin typeface="AudioLink Console Medium" panose="020B0009020204030204" pitchFamily="49" charset="0"/>
              </a:rPr>
              <a:t> </a:t>
            </a:r>
            <a:r>
              <a:rPr lang="en-CA" sz="800" b="0" dirty="0" err="1">
                <a:solidFill>
                  <a:srgbClr val="FF839B"/>
                </a:solidFill>
                <a:effectLst/>
                <a:latin typeface="AudioLink Console Medium" panose="020B0009020204030204" pitchFamily="49" charset="0"/>
              </a:rPr>
              <a:t>Data.Array</a:t>
            </a:r>
            <a:endParaRPr lang="en-CA" sz="800" b="0" dirty="0">
              <a:solidFill>
                <a:srgbClr val="ABB2BF"/>
              </a:solidFill>
              <a:effectLst/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800" dirty="0" err="1">
                <a:solidFill>
                  <a:srgbClr val="F0A030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binarySearch</a:t>
            </a:r>
            <a:r>
              <a:rPr lang="en-US" sz="800" dirty="0">
                <a:solidFill>
                  <a:srgbClr val="F0A030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:: (Ord a) =&gt; Array Int a -&gt; a -&gt; Maybe Int</a:t>
            </a:r>
            <a:endParaRPr lang="en-US" sz="8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binarySearch arr target = go lo hi</a:t>
            </a:r>
            <a:endParaRPr lang="en-US" sz="8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where</a:t>
            </a:r>
            <a:endParaRPr lang="en-US" sz="8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  (lo, hi) = bounds arr</a:t>
            </a:r>
            <a:endParaRPr lang="en-US" sz="8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CCDDEE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  go l h</a:t>
            </a:r>
            <a:endParaRPr lang="en-US" sz="8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E8564A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    | l &gt; h     = Nothing</a:t>
            </a:r>
            <a:endParaRPr lang="en-US" sz="8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4ADE80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    | mid == target = Just m</a:t>
            </a:r>
            <a:endParaRPr lang="en-US" sz="8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ACAC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    | mid &lt;  target = go (m+1) h</a:t>
            </a:r>
            <a:endParaRPr lang="en-US" sz="8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1AACAC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    | otherwise     = go l (m-1)</a:t>
            </a:r>
            <a:endParaRPr lang="en-US" sz="8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F0A030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    where m = (l + h) `div` 2; mid = arr ! m</a:t>
            </a:r>
            <a:endParaRPr lang="en-US" sz="800" dirty="0">
              <a:latin typeface="AudioLink Console Medium" panose="020B000902020403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Бинарный поиск: простой вариант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для списков — менее эффективная, но нагляднее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228600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533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Бинарный поиск по списку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7498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A030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bsearch :: (Ord a) =&gt; [a] -&gt; a -&gt; Bool</a:t>
            </a:r>
            <a:endParaRPr lang="en-US" sz="10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bsearch [] _ = False</a:t>
            </a:r>
            <a:endParaRPr lang="en-US" sz="10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bsearch xs target</a:t>
            </a:r>
            <a:endParaRPr lang="en-US" sz="10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| mid == target = True</a:t>
            </a:r>
            <a:endParaRPr lang="en-US" sz="10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ACAC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| mid &lt;  target = bsearch right target</a:t>
            </a:r>
            <a:endParaRPr lang="en-US" sz="10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AACAC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| otherwise     = bsearch left  target</a:t>
            </a:r>
            <a:endParaRPr lang="en-US" sz="10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where</a:t>
            </a:r>
            <a:endParaRPr lang="en-US" sz="10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  n     = length xs</a:t>
            </a:r>
            <a:endParaRPr lang="en-US" sz="10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  half  = n `div` 2</a:t>
            </a:r>
            <a:endParaRPr lang="en-US" sz="10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0A030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  left  = take half xs</a:t>
            </a:r>
            <a:endParaRPr lang="en-US" sz="10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0A030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  right = drop (half + 1) xs</a:t>
            </a:r>
            <a:endParaRPr lang="en-US" sz="1000" dirty="0">
              <a:latin typeface="AudioLink Console Medium" panose="020B00090202040302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0A030"/>
                </a:solidFill>
                <a:latin typeface="AudioLink Console Medium" panose="020B0009020204030204" pitchFamily="49" charset="0"/>
                <a:ea typeface="Consolas" pitchFamily="34" charset="-122"/>
                <a:cs typeface="Consolas" pitchFamily="34" charset="-120"/>
              </a:rPr>
              <a:t>    mid   = xs !! half</a:t>
            </a:r>
            <a:endParaRPr lang="en-US" sz="1000" dirty="0">
              <a:latin typeface="AudioLink Console Medium" panose="020B0009020204030204" pitchFamily="49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7863840" cy="1005840"/>
          </a:xfrm>
          <a:prstGeom prst="rect">
            <a:avLst/>
          </a:prstGeom>
          <a:solidFill>
            <a:srgbClr val="1A2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77640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8862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Важно: разница в эффективности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34440" y="42062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с Array: </a:t>
            </a: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— прямой доступ по индексу (arr ! i за O(1))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85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со списком: </a:t>
            </a: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— length, take, drop, (!!) работают за O(n)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Паттерны рекурсии в Haskell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Обобщение подходов, которые мы изучили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21590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Паттерн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Когда использовать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Пример</a:t>
                      </a:r>
                      <a:endParaRPr lang="en-US" sz="12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C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3A"/>
                          </a:solidFill>
                        </a:rPr>
                        <a:t>Обычная рекурсия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A7A"/>
                          </a:solidFill>
                        </a:rPr>
                        <a:t>Простые задачи, небольшие данные, наглядность важнее скорости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78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factorial, length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3A"/>
                          </a:solidFill>
                        </a:rPr>
                        <a:t>Хвостовая рекурсия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A7A"/>
                          </a:solidFill>
                        </a:rPr>
                        <a:t>Большие данные, нужна O(1) память, аккумулятор очевиден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78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sum, reverse, foldl'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3A"/>
                          </a:solidFill>
                        </a:rPr>
                        <a:t>Разделяй и властвуй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A7A"/>
                          </a:solidFill>
                        </a:rPr>
                        <a:t>Задача разбивается на подзадачи, результаты объединяются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78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mergesort, hanoi, bsearch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3A"/>
                          </a:solidFill>
                        </a:rPr>
                        <a:t>Структурная рекурсия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A7A"/>
                          </a:solidFill>
                        </a:rPr>
                        <a:t>Обход рекурсивных типов данных (деревья, списки)</a:t>
                      </a:r>
                      <a:endParaRPr lang="en-US" sz="1100" dirty="0"/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478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inorder, depth, treeMap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291840"/>
            <a:ext cx="7863840" cy="1554480"/>
          </a:xfrm>
          <a:prstGeom prst="rect">
            <a:avLst/>
          </a:prstGeom>
          <a:solidFill>
            <a:srgbClr val="1A26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33649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A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Полезные рекурсивные функции для практики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reverse' []     = []                   -- обычная рекурсия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CDD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reverse' (x:xs) = reverse' xs ++ [x]   -- O(n²)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A7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reverse'' xs = go [] xs                 -- хвостовая рекурсия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go acc []     = acc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go acc (x:xs) = go (x:acc) xs   -- O(n)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"/>
            <a:ext cx="78638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 занятия</a:t>
            </a:r>
            <a:endParaRPr lang="en-US" sz="3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07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Рекурсия — основной способ повторения в Haskell (вместо циклов)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6642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Обычная рекурсия проста, но потребляет O(n) памяти на стеке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1214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Хвостовая рекурсия с аккумулятором — O(1) памяти, используйте foldl'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0604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1600" y="25786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Ханойские башни — пример рекурсивной декомпозиции (2ⁿ-1 ходов)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6324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71600" y="30358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Обход дерева — структурная рекурсия (inorder, preorder, postorder)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20440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71600" y="34930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Бинарный поиск — «разделяй и властвуй», O(log n) с Array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1"/>
          <p:cNvSpPr/>
          <p:nvPr/>
        </p:nvSpPr>
        <p:spPr>
          <a:xfrm>
            <a:off x="9144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занятие: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 высшего порядка — map, filter, fold, композиция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1A2A3A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1F304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42416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43584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44752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4592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4708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48256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249424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51760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852928" y="4434840"/>
            <a:ext cx="73152" cy="73152"/>
          </a:xfrm>
          <a:prstGeom prst="ellipse">
            <a:avLst/>
          </a:prstGeom>
          <a:solidFill>
            <a:srgbClr val="1AACA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Вопросы?</a:t>
            </a:r>
            <a:endParaRPr lang="en-US" sz="5200" dirty="0"/>
          </a:p>
        </p:txBody>
      </p:sp>
      <p:sp>
        <p:nvSpPr>
          <p:cNvPr id="17" name="Shape 15"/>
          <p:cNvSpPr/>
          <p:nvPr/>
        </p:nvSpPr>
        <p:spPr>
          <a:xfrm>
            <a:off x="3931920" y="2834640"/>
            <a:ext cx="1280160" cy="45720"/>
          </a:xfrm>
          <a:prstGeom prst="rect">
            <a:avLst/>
          </a:prstGeom>
          <a:solidFill>
            <a:srgbClr val="1AACA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2, Часть 1: Рекурсия и классические задачи</a:t>
            </a:r>
            <a:endParaRPr lang="en-US" sz="14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7490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2398</Words>
  <Application>Microsoft Macintosh PowerPoint</Application>
  <PresentationFormat>On-screen Show (16:9)</PresentationFormat>
  <Paragraphs>474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AudioLink Console Medium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2. Основы Haskell — Часть 1: Рекурсия</dc:title>
  <dc:subject>PptxGenJS Presentation</dc:subject>
  <dc:creator>Курс ФП на Haskell</dc:creator>
  <cp:lastModifiedBy>Evgeny Zimin</cp:lastModifiedBy>
  <cp:revision>4</cp:revision>
  <dcterms:created xsi:type="dcterms:W3CDTF">2026-02-15T13:54:38Z</dcterms:created>
  <dcterms:modified xsi:type="dcterms:W3CDTF">2026-02-15T15:49:29Z</dcterms:modified>
</cp:coreProperties>
</file>