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9" r:id="rId9"/>
    <p:sldId id="262" r:id="rId10"/>
    <p:sldId id="263" r:id="rId11"/>
    <p:sldId id="270" r:id="rId12"/>
    <p:sldId id="264" r:id="rId13"/>
    <p:sldId id="265" r:id="rId14"/>
    <p:sldId id="271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52"/>
    <p:restoredTop sz="94610"/>
  </p:normalViewPr>
  <p:slideViewPr>
    <p:cSldViewPr snapToGrid="0" snapToObjects="1">
      <p:cViewPr varScale="1">
        <p:scale>
          <a:sx n="230" d="100"/>
          <a:sy n="230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98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9E3AC-F67E-32E5-458D-E5707EAC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98DCF-0A36-7EF7-4A1E-1E98008ED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4031F-D96F-385C-E6DA-72F2E60AA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70074-7092-A637-DC46-8274300DF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68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FB4FD-97FC-F1F6-9FF5-54CEFD94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C7348-F382-DA02-F57E-24C53C8F4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F525B-9197-4A91-1E34-8F3D2CC56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24AF9-AD9B-E3FC-1A34-AB681BB81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12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1A45D-6A31-AF12-5BF5-04651D9F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A5FCA-07B2-1B82-DE89-62E868BC4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8CCE5-325A-A156-9398-C4B3515FA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D2155-7139-8B7E-8817-FD2092D695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41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F16C-92A2-B70F-5343-3E008C36D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927B1-B86F-E7F8-AE84-3EE24FB68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3B864-F890-7934-0FAF-423926078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6FF42-F1BC-2BB8-F267-044406D58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94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1AACAC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AACA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2A3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43584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44752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4708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48256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49424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50592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5176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5292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 о д у л ь  2  ·  Ч а с т ь 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1554480"/>
            <a:ext cx="54864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17830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Списки, кортежи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List Comprehensions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3152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«Функциональное и логическое программирование на Haskell»</a:t>
            </a:r>
            <a:endParaRPr lang="en-US" sz="13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2062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изучим сегодня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Задание: генерация списков с помощью list comprehensions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468880" cy="54864"/>
          </a:xfrm>
          <a:prstGeom prst="rect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числа до 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последовательности простых чисел с помощью фильтрации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468880" cy="54864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1874520"/>
            <a:ext cx="502920" cy="502920"/>
          </a:xfrm>
          <a:prstGeom prst="ellipse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Пифагоровы тройки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всех (a, b, c) где a² + b² = c² через генераторы и условия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4688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смежности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графовых структур с помощью list comprehensions</a:t>
            </a:r>
            <a:endParaRPr lang="en-US" sz="12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3484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4407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 — мощный инструмент для декларативной генерации данных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List Comprehension?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нотация для определения множеств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запись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 x² | x ∈ {0..5}, x even 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{0, 4, 16}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Haskell-запись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[x^2 | x &lt;- [0..5], even x]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[0, 4, 16]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7863840" cy="192024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 list comprehension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</a:t>
            </a:r>
            <a:r>
              <a:rPr lang="en-US" sz="1600" b="1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выражение</a:t>
            </a:r>
            <a:r>
              <a:rPr lang="en-US" sz="16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r>
              <a:rPr lang="en-US" sz="1600" b="1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генератор</a:t>
            </a:r>
            <a:r>
              <a:rPr lang="en-US" sz="16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b="1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условие</a:t>
            </a:r>
            <a:r>
              <a:rPr lang="en-US" sz="16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3977640"/>
            <a:ext cx="109728" cy="109728"/>
          </a:xfrm>
          <a:prstGeom prst="ellipse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440" y="3904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выражение</a:t>
            </a: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что генерируем (результат)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4297680"/>
            <a:ext cx="109728" cy="109728"/>
          </a:xfrm>
          <a:prstGeom prst="ellipse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4224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генератор</a:t>
            </a: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откуда берём значения (x &lt;- [1..n])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4617720"/>
            <a:ext cx="109728" cy="109728"/>
          </a:xfrm>
          <a:prstGeom prst="ellipse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4440" y="4544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условие</a:t>
            </a: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фильтр (guard), необязательно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 1: Простые числа до 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p простое, если оно делится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на 1 и на себя.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Проверка: ни одно число от 2 до p-1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делит p нацело.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Генератор: </a:t>
            </a:r>
            <a:r>
              <a:rPr lang="en-US" sz="13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&lt;- [2..n]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Условие: </a:t>
            </a: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делителей 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число 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7863840" cy="201168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2918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</a:t>
            </a:r>
            <a:r>
              <a:rPr lang="en-US" sz="1300" dirty="0" err="1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Простые</a:t>
            </a:r>
            <a:r>
              <a:rPr lang="en-US" sz="13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 err="1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числа</a:t>
            </a:r>
            <a:r>
              <a:rPr lang="en-US" sz="13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 err="1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</a:t>
            </a:r>
            <a:r>
              <a:rPr lang="en-US" sz="13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primesUpTo</a:t>
            </a: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:: ???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&gt; primesUpTo 30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[2,3,5,7,11,13,17,19,23,29]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F20448-F47A-50A2-87EB-C5ED8BE22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3E1BF3-0D88-7B1C-1B6F-BF38E32BE950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BDE982-93FC-276D-91CA-7E6AC2A470F1}"/>
              </a:ext>
            </a:extLst>
          </p:cNvPr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 1: Простые числа до N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67D041-465E-93BE-6C95-145410659A4D}"/>
              </a:ext>
            </a:extLst>
          </p:cNvPr>
          <p:cNvSpPr/>
          <p:nvPr/>
        </p:nvSpPr>
        <p:spPr>
          <a:xfrm>
            <a:off x="64008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73EB93-C9A4-073E-A827-2EF4A8FE35F9}"/>
              </a:ext>
            </a:extLst>
          </p:cNvPr>
          <p:cNvSpPr/>
          <p:nvPr/>
        </p:nvSpPr>
        <p:spPr>
          <a:xfrm>
            <a:off x="82296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BF50FE-EF8A-2915-B32F-A18CA37F28FB}"/>
              </a:ext>
            </a:extLst>
          </p:cNvPr>
          <p:cNvSpPr/>
          <p:nvPr/>
        </p:nvSpPr>
        <p:spPr>
          <a:xfrm>
            <a:off x="822960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p простое, если оно делится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на 1 и на себя.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Проверка: ни одно число от 2 до p-1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делит p нацело.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F571996-442B-A6CD-F9D6-8C67A05E053B}"/>
              </a:ext>
            </a:extLst>
          </p:cNvPr>
          <p:cNvSpPr/>
          <p:nvPr/>
        </p:nvSpPr>
        <p:spPr>
          <a:xfrm>
            <a:off x="4754880" y="11887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4CB94E-5B5B-4D17-8130-FFAC574DE815}"/>
              </a:ext>
            </a:extLst>
          </p:cNvPr>
          <p:cNvSpPr/>
          <p:nvPr/>
        </p:nvSpPr>
        <p:spPr>
          <a:xfrm>
            <a:off x="493776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1AACFA7-AB5E-7571-ED57-E5B07F3B4B07}"/>
              </a:ext>
            </a:extLst>
          </p:cNvPr>
          <p:cNvSpPr/>
          <p:nvPr/>
        </p:nvSpPr>
        <p:spPr>
          <a:xfrm>
            <a:off x="4937760" y="1645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Генератор: </a:t>
            </a:r>
            <a:r>
              <a:rPr lang="en-US" sz="13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&lt;- [2..n]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Условие: </a:t>
            </a: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делителей 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число p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B4C0E6F-F175-004B-71A0-DD65EA7091FF}"/>
              </a:ext>
            </a:extLst>
          </p:cNvPr>
          <p:cNvSpPr/>
          <p:nvPr/>
        </p:nvSpPr>
        <p:spPr>
          <a:xfrm>
            <a:off x="640080" y="2880360"/>
            <a:ext cx="7863840" cy="201168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19FFF20-02EA-CC86-B4A8-A46C7069320B}"/>
              </a:ext>
            </a:extLst>
          </p:cNvPr>
          <p:cNvSpPr/>
          <p:nvPr/>
        </p:nvSpPr>
        <p:spPr>
          <a:xfrm>
            <a:off x="86868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63A19AC-790D-A87D-EA2A-929E4FFFF498}"/>
              </a:ext>
            </a:extLst>
          </p:cNvPr>
          <p:cNvSpPr/>
          <p:nvPr/>
        </p:nvSpPr>
        <p:spPr>
          <a:xfrm>
            <a:off x="868680" y="32918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Простые числа до 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primesUpTo :: Int -&gt; [Int]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primesUpTo n = [</a:t>
            </a:r>
            <a:r>
              <a:rPr lang="en-US" sz="13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r>
              <a:rPr lang="en-US" sz="13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n-US" sz="13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[2..n]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null [</a:t>
            </a:r>
            <a:r>
              <a:rPr lang="en-US" sz="13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r>
              <a:rPr lang="en-US" sz="13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n-US" sz="13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[2..p-1]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`mod` </a:t>
            </a:r>
            <a:r>
              <a:rPr lang="en-US" sz="13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0]]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&gt; primesUpTo 30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[2,3,5,7,11,13,17,19,23,29]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19770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это работает?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Пошаговый разбор генерации простых чисел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Генератор p &lt;- [2..n]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Перебираем все числа от 2 до n. Каждое — кандидат в простые.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Внутренний список делителей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 | d &lt;- [2..p-1], p `mod` d == 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Находим все делители числа 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Фильтр: null (пустой список)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429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список делителей пуст — число простое. null [] == True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Результат: 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297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p попадает в итоговый список простых чисел.</a:t>
            </a:r>
            <a:endParaRPr lang="en-US" sz="1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0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4544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Оптимизация: достаточно проверять делители до √p — это уменьшит сложность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 2: Пифагоровы тройки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все (a, b, c), где a² + b² = c² и a ≤ b ≤ c ≤ 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генераторов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может содержать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генераторов — они работают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вложенные циклы.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≤ b ≤ c исключает дубликаты.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Генераторы: </a:t>
            </a:r>
            <a:r>
              <a:rPr lang="en-US" sz="12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c, b, a &lt;- [1..n]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Условие: </a:t>
            </a:r>
            <a:r>
              <a:rPr lang="en-US" sz="12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a² + b² == c²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r>
              <a:rPr lang="en-US" sz="12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кортеж (a, b, c)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7863840" cy="182880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4747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Пифагоровы тройки до 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pyTriples :: ???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cs typeface="Consolas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DB205-FB35-1346-151D-A46A487B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98EA1C-3547-F2E4-0388-2808DF9D1FE5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9E463E-14F9-C98A-71F0-FA9FA11C2FD8}"/>
              </a:ext>
            </a:extLst>
          </p:cNvPr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 2: Пифагоровы тройки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4D7AE0F-9515-D643-621A-5915A7BD90BD}"/>
              </a:ext>
            </a:extLst>
          </p:cNvPr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все (a, b, c), где a² + b² = c² и a ≤ b ≤ c ≤ n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D73EEF6-A81C-3843-EE6C-E52B0A47F411}"/>
              </a:ext>
            </a:extLst>
          </p:cNvPr>
          <p:cNvSpPr/>
          <p:nvPr/>
        </p:nvSpPr>
        <p:spPr>
          <a:xfrm>
            <a:off x="640080" y="146304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E0E9238-154C-EC67-E9F9-F173F769B4C6}"/>
              </a:ext>
            </a:extLst>
          </p:cNvPr>
          <p:cNvSpPr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генераторов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2EA4FD-4F39-885F-E6D3-535965EC7F15}"/>
              </a:ext>
            </a:extLst>
          </p:cNvPr>
          <p:cNvSpPr/>
          <p:nvPr/>
        </p:nvSpPr>
        <p:spPr>
          <a:xfrm>
            <a:off x="82296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может содержать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генераторов — они работают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вложенные циклы.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≤ b ≤ c исключает дубликаты.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69CE58F-7E00-C7E4-993B-BD992D94E5BF}"/>
              </a:ext>
            </a:extLst>
          </p:cNvPr>
          <p:cNvSpPr/>
          <p:nvPr/>
        </p:nvSpPr>
        <p:spPr>
          <a:xfrm>
            <a:off x="4754880" y="146304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985B6C4-ADBE-D112-B4E6-9A8C292ADCE9}"/>
              </a:ext>
            </a:extLst>
          </p:cNvPr>
          <p:cNvSpPr/>
          <p:nvPr/>
        </p:nvSpPr>
        <p:spPr>
          <a:xfrm>
            <a:off x="49377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A8C10AE-1757-BA1D-93A8-96091D6D4CAB}"/>
              </a:ext>
            </a:extLst>
          </p:cNvPr>
          <p:cNvSpPr/>
          <p:nvPr/>
        </p:nvSpPr>
        <p:spPr>
          <a:xfrm>
            <a:off x="493776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Генераторы: </a:t>
            </a:r>
            <a:r>
              <a:rPr lang="en-US" sz="12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c, b, a &lt;- [1..n]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Условие: </a:t>
            </a:r>
            <a:r>
              <a:rPr lang="en-US" sz="12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a² + b² == c²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r>
              <a:rPr lang="en-US" sz="12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кортеж (a, b, c)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D44C819-510F-AF7B-F262-6E9522BF5581}"/>
              </a:ext>
            </a:extLst>
          </p:cNvPr>
          <p:cNvSpPr/>
          <p:nvPr/>
        </p:nvSpPr>
        <p:spPr>
          <a:xfrm>
            <a:off x="640080" y="3063240"/>
            <a:ext cx="7863840" cy="182880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CDE5F08-3515-9DEE-79D2-AC14935C4955}"/>
              </a:ext>
            </a:extLst>
          </p:cNvPr>
          <p:cNvSpPr/>
          <p:nvPr/>
        </p:nvSpPr>
        <p:spPr>
          <a:xfrm>
            <a:off x="86868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51F9A34-01B1-2DD4-6BE4-C046CE314346}"/>
              </a:ext>
            </a:extLst>
          </p:cNvPr>
          <p:cNvSpPr/>
          <p:nvPr/>
        </p:nvSpPr>
        <p:spPr>
          <a:xfrm>
            <a:off x="868680" y="34747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Пифагоровы тройки до 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pyTriples :: Int -&gt; [(Int, Int, Int)]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pyTriples n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[(a, b, c) | c &lt;- [1..n],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b &lt;- [1..c],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a &lt;- [1..b],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a^2 + b^2 == c^2]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79700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Трассировка: pyTriples 15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Haskell перебирает комбинации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295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a² + b²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Совпадение?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3520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pyTriples 15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[(3,4,5),(6,8,10),(5,12,13),(9,12,15)]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8056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4453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генераторов важен: c — внешний цикл, a — внутренний. Это определяет порядок обхода.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 3: Матрица смежности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представления графа через list comprehensions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матрица смежности?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Двумерная матрица </a:t>
            </a:r>
            <a:r>
              <a:rPr lang="en-US" sz="1200" dirty="0">
                <a:solidFill>
                  <a:srgbClr val="1A2A3A"/>
                </a:solidFill>
                <a:latin typeface="STIX Two Math" panose="02020603050405020304" pitchFamily="18" charset="0"/>
                <a:ea typeface="STIX Two Math" panose="02020603050405020304" pitchFamily="18" charset="0"/>
                <a:cs typeface="STIX Two Math" panose="02020603050405020304" pitchFamily="18" charset="0"/>
              </a:rPr>
              <a:t>n×n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, где элемент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STIX Two Math" panose="02020603050405020304" pitchFamily="18" charset="0"/>
                <a:ea typeface="STIX Two Math" panose="02020603050405020304" pitchFamily="18" charset="0"/>
                <a:cs typeface="STIX Two Math" panose="02020603050405020304" pitchFamily="18" charset="0"/>
              </a:rPr>
              <a:t>(i, j) = 1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, если существует ребро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между вершинами </a:t>
            </a:r>
            <a:r>
              <a:rPr lang="en-US" sz="1200" dirty="0">
                <a:solidFill>
                  <a:srgbClr val="1A2A3A"/>
                </a:solidFill>
                <a:latin typeface="STIX Two Math" panose="02020603050405020304" pitchFamily="18" charset="0"/>
                <a:ea typeface="STIX Two Math" panose="02020603050405020304" pitchFamily="18" charset="0"/>
                <a:cs typeface="STIX Two Math" panose="02020603050405020304" pitchFamily="18" charset="0"/>
              </a:rPr>
              <a:t>i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 и </a:t>
            </a:r>
            <a:r>
              <a:rPr lang="en-US" sz="1200" dirty="0">
                <a:solidFill>
                  <a:srgbClr val="1A2A3A"/>
                </a:solidFill>
                <a:latin typeface="STIX Two Math" panose="02020603050405020304" pitchFamily="18" charset="0"/>
                <a:ea typeface="STIX Two Math" panose="02020603050405020304" pitchFamily="18" charset="0"/>
                <a:cs typeface="STIX Two Math" panose="02020603050405020304" pitchFamily="18" charset="0"/>
              </a:rPr>
              <a:t>j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, иначе </a:t>
            </a:r>
            <a:r>
              <a:rPr lang="en-US" sz="1200" dirty="0">
                <a:solidFill>
                  <a:srgbClr val="1A2A3A"/>
                </a:solidFill>
                <a:latin typeface="STIX Two Math" panose="02020603050405020304" pitchFamily="18" charset="0"/>
                <a:ea typeface="STIX Two Math" panose="02020603050405020304" pitchFamily="18" charset="0"/>
                <a:cs typeface="STIX Two Math" panose="02020603050405020304" pitchFamily="18" charset="0"/>
              </a:rPr>
              <a:t>0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List comprehension позволяет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построить её декларативно.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4859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граф с 4 вершинами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721557"/>
              </p:ext>
            </p:extLst>
          </p:nvPr>
        </p:nvGraphicFramePr>
        <p:xfrm>
          <a:off x="4937760" y="1831340"/>
          <a:ext cx="2743200" cy="10922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3246120"/>
            <a:ext cx="7863840" cy="169164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36118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Матрица смежности из списка рёбер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Edge = (Int, Int)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adjMatrix :: ???</a:t>
            </a:r>
            <a:endParaRPr lang="en-US" sz="1200" dirty="0"/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6468F-8BD4-34E7-E143-348DC8C4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347C72-749F-6630-EB53-9CC01491CC5E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87C187-64A4-FF1F-B07E-424A30097287}"/>
              </a:ext>
            </a:extLst>
          </p:cNvPr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 3: Матрица смежности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E9D861-B8E0-CCA5-E1F4-50B8E8C8515C}"/>
              </a:ext>
            </a:extLst>
          </p:cNvPr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представления графа через list comprehensions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2183FFA-AC2D-27A4-0E12-4F0ADFE66334}"/>
              </a:ext>
            </a:extLst>
          </p:cNvPr>
          <p:cNvSpPr/>
          <p:nvPr/>
        </p:nvSpPr>
        <p:spPr>
          <a:xfrm>
            <a:off x="640080" y="146304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7E7DA7-29F5-9E2F-0267-ED54B4D943F6}"/>
              </a:ext>
            </a:extLst>
          </p:cNvPr>
          <p:cNvSpPr/>
          <p:nvPr/>
        </p:nvSpPr>
        <p:spPr>
          <a:xfrm>
            <a:off x="82296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матрица смежности?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60FDC40-B154-6628-9E6B-87935F200FAD}"/>
              </a:ext>
            </a:extLst>
          </p:cNvPr>
          <p:cNvSpPr/>
          <p:nvPr/>
        </p:nvSpPr>
        <p:spPr>
          <a:xfrm>
            <a:off x="822960" y="1874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Двумерная матрица </a:t>
            </a:r>
            <a:r>
              <a:rPr lang="en-US" sz="1200" dirty="0">
                <a:solidFill>
                  <a:srgbClr val="1A2A3A"/>
                </a:solidFill>
                <a:latin typeface="STIX Two Math" panose="02020603050405020304" pitchFamily="18" charset="0"/>
                <a:ea typeface="STIX Two Math" panose="02020603050405020304" pitchFamily="18" charset="0"/>
                <a:cs typeface="STIX Two Math" panose="02020603050405020304" pitchFamily="18" charset="0"/>
              </a:rPr>
              <a:t>n×n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, где элемент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STIX Two Math" panose="02020603050405020304" pitchFamily="18" charset="0"/>
                <a:ea typeface="STIX Two Math" panose="02020603050405020304" pitchFamily="18" charset="0"/>
                <a:cs typeface="STIX Two Math" panose="02020603050405020304" pitchFamily="18" charset="0"/>
              </a:rPr>
              <a:t>(i, j) = 1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, если существует ребро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между вершинами </a:t>
            </a:r>
            <a:r>
              <a:rPr lang="en-US" sz="1200" dirty="0">
                <a:solidFill>
                  <a:srgbClr val="1A2A3A"/>
                </a:solidFill>
                <a:latin typeface="STIX Two Math" panose="02020603050405020304" pitchFamily="18" charset="0"/>
                <a:ea typeface="STIX Two Math" panose="02020603050405020304" pitchFamily="18" charset="0"/>
                <a:cs typeface="STIX Two Math" panose="02020603050405020304" pitchFamily="18" charset="0"/>
              </a:rPr>
              <a:t>i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 и </a:t>
            </a:r>
            <a:r>
              <a:rPr lang="en-US" sz="1200" dirty="0">
                <a:solidFill>
                  <a:srgbClr val="1A2A3A"/>
                </a:solidFill>
                <a:latin typeface="STIX Two Math" panose="02020603050405020304" pitchFamily="18" charset="0"/>
                <a:ea typeface="STIX Two Math" panose="02020603050405020304" pitchFamily="18" charset="0"/>
                <a:cs typeface="STIX Two Math" panose="02020603050405020304" pitchFamily="18" charset="0"/>
              </a:rPr>
              <a:t>j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, иначе </a:t>
            </a:r>
            <a:r>
              <a:rPr lang="en-US" sz="1200" dirty="0">
                <a:solidFill>
                  <a:srgbClr val="1A2A3A"/>
                </a:solidFill>
                <a:latin typeface="STIX Two Math" panose="02020603050405020304" pitchFamily="18" charset="0"/>
                <a:ea typeface="STIX Two Math" panose="02020603050405020304" pitchFamily="18" charset="0"/>
                <a:cs typeface="STIX Two Math" panose="02020603050405020304" pitchFamily="18" charset="0"/>
              </a:rPr>
              <a:t>0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List comprehension позволяет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STIX Two Math" panose="02020603050405020304" pitchFamily="18" charset="0"/>
                <a:cs typeface="Calibri" pitchFamily="34" charset="-120"/>
              </a:rPr>
              <a:t>построить её декларативно.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6FF6F28-CFAB-613E-FAD6-6192CE0E3995}"/>
              </a:ext>
            </a:extLst>
          </p:cNvPr>
          <p:cNvSpPr/>
          <p:nvPr/>
        </p:nvSpPr>
        <p:spPr>
          <a:xfrm>
            <a:off x="4754880" y="146304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C2B3BD1-059C-F5FF-92F4-99473CA31A64}"/>
              </a:ext>
            </a:extLst>
          </p:cNvPr>
          <p:cNvSpPr/>
          <p:nvPr/>
        </p:nvSpPr>
        <p:spPr>
          <a:xfrm>
            <a:off x="4937760" y="14859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граф с 4 вершинами</a:t>
            </a:r>
            <a:endParaRPr lang="en-US" sz="14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2D3233C2-03FE-5679-112C-8171AF28B550}"/>
              </a:ext>
            </a:extLst>
          </p:cNvPr>
          <p:cNvGraphicFramePr>
            <a:graphicFrameLocks noGrp="1"/>
          </p:cNvGraphicFramePr>
          <p:nvPr/>
        </p:nvGraphicFramePr>
        <p:xfrm>
          <a:off x="4937760" y="1831340"/>
          <a:ext cx="2743200" cy="10922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>
            <a:extLst>
              <a:ext uri="{FF2B5EF4-FFF2-40B4-BE49-F238E27FC236}">
                <a16:creationId xmlns:a16="http://schemas.microsoft.com/office/drawing/2014/main" id="{4CFDAE86-9D86-206C-EDD3-D8F7874ED35F}"/>
              </a:ext>
            </a:extLst>
          </p:cNvPr>
          <p:cNvSpPr/>
          <p:nvPr/>
        </p:nvSpPr>
        <p:spPr>
          <a:xfrm>
            <a:off x="640080" y="3246120"/>
            <a:ext cx="7863840" cy="169164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CD84B1B-1075-8F32-F840-0F4B940FD3BE}"/>
              </a:ext>
            </a:extLst>
          </p:cNvPr>
          <p:cNvSpPr/>
          <p:nvPr/>
        </p:nvSpPr>
        <p:spPr>
          <a:xfrm>
            <a:off x="86868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</a:t>
            </a:r>
            <a:endParaRPr lang="en-US" sz="13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EAF6768-90B3-9F75-36EE-722F6F936677}"/>
              </a:ext>
            </a:extLst>
          </p:cNvPr>
          <p:cNvSpPr/>
          <p:nvPr/>
        </p:nvSpPr>
        <p:spPr>
          <a:xfrm>
            <a:off x="868680" y="36118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Матрица смежности из списка рёбер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Edge = (Int, Int)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adjMatrix :: Int -&gt; [Edge] -&gt; [[Int]]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adjMatrix n edges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[[if (i,j) `elem` edges || (j,i) `elem` edges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then 1 else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j &lt;- [1..n]] | i &lt;- [1..n]]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37340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Полезные паттерны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встречающиеся приёмы с list comprehensions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150876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Декартово произведение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n = [(x,y) | x &lt;- [1..n],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y &lt;- [1..n]]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749040" cy="150876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с условием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 xs = [x | x &lt;- xs,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even x]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749040" cy="150876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Преобразование элементов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toUpper' s = [toUpper c 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 &lt;- s]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108960"/>
            <a:ext cx="3749040" cy="150876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Вложенные списки (flatten)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5661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 xss = [x | xs &lt;- xss,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x &lt;- xs]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Бонус: Оптимизация простых чисел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219456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Наивный подход: O(n²)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primesUpTo n =
  [p | p &lt;- [2..n],
   null [d | d &lt;- [2..p-1],
         p `mod` d == 0]]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219456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749040" cy="365760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Оптимизация: 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primesOpt n =
</a:t>
            </a:r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CDDEE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693BA-D2EC-116D-545C-D4B5215E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311D0D-2A4F-E13C-194E-2019FB5993D7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4C0722-A1D5-8956-1CFE-F62038085D99}"/>
              </a:ext>
            </a:extLst>
          </p:cNvPr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Бонус: Оптимизация простых чисел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C40100-A0ED-0FAB-2CDE-8827298CC55B}"/>
              </a:ext>
            </a:extLst>
          </p:cNvPr>
          <p:cNvSpPr/>
          <p:nvPr/>
        </p:nvSpPr>
        <p:spPr>
          <a:xfrm>
            <a:off x="640080" y="1188720"/>
            <a:ext cx="3749040" cy="219456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B0EFF8-6B91-5C92-4CD5-2BB2148B5365}"/>
              </a:ext>
            </a:extLst>
          </p:cNvPr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9CC428-3565-6A0F-D01B-F7720DC3F829}"/>
              </a:ext>
            </a:extLst>
          </p:cNvPr>
          <p:cNvSpPr/>
          <p:nvPr/>
        </p:nvSpPr>
        <p:spPr>
          <a:xfrm>
            <a:off x="82296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Наивный подход: O(n²)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3B9E5B-1064-BB2A-AAEA-B27B423DE7C2}"/>
              </a:ext>
            </a:extLst>
          </p:cNvPr>
          <p:cNvSpPr/>
          <p:nvPr/>
        </p:nvSpPr>
        <p:spPr>
          <a:xfrm>
            <a:off x="822960" y="16916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primesUpTo n =
  [p | p &lt;- [2..n],
   null [d | d &lt;- [2..p-1],
         p `mod` d == 0]]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B7163A3-8102-4BA3-818F-7C93C453E556}"/>
              </a:ext>
            </a:extLst>
          </p:cNvPr>
          <p:cNvSpPr/>
          <p:nvPr/>
        </p:nvSpPr>
        <p:spPr>
          <a:xfrm>
            <a:off x="4754880" y="1188720"/>
            <a:ext cx="3749040" cy="219456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3866021-C09B-F8CF-39CB-CCF5A72EFA06}"/>
              </a:ext>
            </a:extLst>
          </p:cNvPr>
          <p:cNvSpPr/>
          <p:nvPr/>
        </p:nvSpPr>
        <p:spPr>
          <a:xfrm>
            <a:off x="4754880" y="1188720"/>
            <a:ext cx="3749040" cy="365760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40DD8B-BBEE-51B0-DD6F-ECF7429D83F3}"/>
              </a:ext>
            </a:extLst>
          </p:cNvPr>
          <p:cNvSpPr/>
          <p:nvPr/>
        </p:nvSpPr>
        <p:spPr>
          <a:xfrm>
            <a:off x="493776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Оптимизация: O(n√n)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A84AEE6-89BE-F9EE-7B66-A823F7E959B5}"/>
              </a:ext>
            </a:extLst>
          </p:cNvPr>
          <p:cNvSpPr/>
          <p:nvPr/>
        </p:nvSpPr>
        <p:spPr>
          <a:xfrm>
            <a:off x="4937760" y="16916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primesOpt n =
  [p | p &lt;- [2..n],
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null [d | d &lt;- [2..sqrtP p],
</a:t>
            </a: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 `mod` d == 0]]
</a:t>
            </a: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sqrtP = floor . sqrt .
                  fromIntegral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3347898-D6AE-27C5-E5E4-F4D288FEAAAC}"/>
              </a:ext>
            </a:extLst>
          </p:cNvPr>
          <p:cNvSpPr/>
          <p:nvPr/>
        </p:nvSpPr>
        <p:spPr>
          <a:xfrm>
            <a:off x="640080" y="3657600"/>
            <a:ext cx="78638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B9FB6559-F21F-FAB6-8B38-8B26CD14C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40480"/>
            <a:ext cx="274320" cy="27432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DA7ED5C5-E17C-50FF-3EC1-E1D4B300EAEE}"/>
              </a:ext>
            </a:extLst>
          </p:cNvPr>
          <p:cNvSpPr/>
          <p:nvPr/>
        </p:nvSpPr>
        <p:spPr>
          <a:xfrm>
            <a:off x="128016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достаточно проверять до √p?</a:t>
            </a:r>
            <a:endParaRPr lang="en-US" sz="15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70AE74F-E3B3-EE3C-30B6-50D025B21CB9}"/>
              </a:ext>
            </a:extLst>
          </p:cNvPr>
          <p:cNvSpPr/>
          <p:nvPr/>
        </p:nvSpPr>
        <p:spPr>
          <a:xfrm>
            <a:off x="1280160" y="4069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p = a × b и a ≤ b, то a ≤ √p. Значит, если у p есть делитель больше √p, то есть и делитель меньше √p. Поэтому достаточно проверить только малые делители.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71315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78638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 занятия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98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— мощный инструмент для генерации списков декларативным способом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8013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Синтаксис: [выражение | генератор, условие] напоминает математическую нотацию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317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3042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генераторов работают как вложенные циклы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464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1600" y="28072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числа, пифагоровы тройки и матрицы — отличная практика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3756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71600" y="33101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Оптимизация: проверка делителей до √n вместо n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Рекурсия — хвостовая и обычная, классические задачи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1A2A3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1F304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2416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43584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44752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592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4708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48256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49424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5176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5292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Вопросы?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3931920" y="2834640"/>
            <a:ext cx="128016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2, Часть 1: List Comprehensions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7490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1442</Words>
  <Application>Microsoft Macintosh PowerPoint</Application>
  <PresentationFormat>On-screen Show (16:9)</PresentationFormat>
  <Paragraphs>289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STIX Two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2. Основы Haskell — Часть 1: List Comprehensions</dc:title>
  <dc:subject>PptxGenJS Presentation</dc:subject>
  <dc:creator>Курс ФП на Haskell</dc:creator>
  <cp:lastModifiedBy>Evgeny Zimin</cp:lastModifiedBy>
  <cp:revision>3</cp:revision>
  <dcterms:created xsi:type="dcterms:W3CDTF">2026-02-15T12:39:54Z</dcterms:created>
  <dcterms:modified xsi:type="dcterms:W3CDTF">2026-02-15T13:33:40Z</dcterms:modified>
</cp:coreProperties>
</file>