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68" r:id="rId15"/>
    <p:sldId id="274" r:id="rId16"/>
    <p:sldId id="269" r:id="rId17"/>
    <p:sldId id="275" r:id="rId18"/>
    <p:sldId id="270" r:id="rId19"/>
    <p:sldId id="271" r:id="rId20"/>
    <p:sldId id="272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69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84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150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26426-D584-EEBF-FAFF-2185005D6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DA5CFB-0AFB-8F45-DA9A-6E93F7F0F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C6C874-E10C-E986-17F0-A934AF4AD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F357F-6C3E-F780-01A6-F5AEFED83C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239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5D661-142E-24E7-EE9A-D36FFBF7E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0989DC-996C-3887-0B00-850079BEB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10AD33-500F-022B-0395-15F7ADED9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FF71C-284C-0B93-C38D-01C3DF1360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2095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AA3EE-1AF0-8660-2DE0-6D2BFB696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9F2039-D5F9-CF2E-C116-3BBC6D1F4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9959C2-8576-5DE7-DB7C-20A568E98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50C1D-E71C-768C-67ED-642FD43DBA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2111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4114800" cy="4114800"/>
          </a:xfrm>
          <a:prstGeom prst="line">
            <a:avLst/>
          </a:prstGeom>
          <a:solidFill>
            <a:srgbClr val="1E335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457200"/>
            <a:ext cx="2926080" cy="2926080"/>
          </a:xfrm>
          <a:prstGeom prst="line">
            <a:avLst/>
          </a:prstGeom>
          <a:solidFill>
            <a:srgbClr val="2BA5B5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914400" y="3200400"/>
            <a:ext cx="2743200" cy="2743200"/>
          </a:xfrm>
          <a:prstGeom prst="line">
            <a:avLst/>
          </a:prstGeom>
          <a:solidFill>
            <a:srgbClr val="1E335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 о д у л ь  2  ·  Ч а с т ь  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731520" cy="45720"/>
          </a:xfrm>
          <a:prstGeom prst="rect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Функции высшего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порядка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filter, fold и композиция функций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«Функциональное и логическое программирование на Haskell»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0584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8016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55448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2880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10312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37744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65176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92608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47472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74904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4348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мы изучим сегодня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 высшего порядка — ключевой инструмент функционального программирования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749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749040" cy="64008"/>
          </a:xfrm>
          <a:prstGeom prst="rect">
            <a:avLst/>
          </a:prstGeom>
          <a:solidFill>
            <a:srgbClr val="E86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548640" cy="548640"/>
          </a:xfrm>
          <a:prstGeom prst="line">
            <a:avLst/>
          </a:prstGeom>
          <a:solidFill>
            <a:srgbClr val="E86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Переписать императивные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926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Сортировка, поиск максимума,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подсчёт — через map, filter, fold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3749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3749040" cy="64008"/>
          </a:xfrm>
          <a:prstGeom prst="rect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37760" y="1645920"/>
            <a:ext cx="548640" cy="548640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92040" y="2331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свои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filter, foldl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2926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Собственные версии стандартных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функций через рекурсию</a:t>
            </a:r>
            <a:endParaRPr lang="en-US" sz="12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63440"/>
            <a:ext cx="201168" cy="20116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14400" y="4663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 высшего порядка принимают другие функции как аргументы или возвращают их как результат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такое функции высшего порядка?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Functions — основа функционального стиля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749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высшего порядка (HOF) 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функция, которая принимает другую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функцию как аргумент и/или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возвращает функцию как результат.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749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8348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Знакомые примеры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6916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применить функцию к каждому элементу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отобрать элементы по предикату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foldl/foldr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свернуть список в значение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7863840" cy="13258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3375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Сигнатуры типов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56616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Типы функций высшего порядка
</a:t>
            </a: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  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 (a -&gt; b) -&gt; [a] -&gt; [b]
</a:t>
            </a: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 (a -&gt; Bool) -&gt; [a] -&gt; [a]
</a:t>
            </a: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foldl 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 (b -&gt; a -&gt; b) -&gt; b -&gt; [a] -&gt; b
</a:t>
            </a: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foldr 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 (a -&gt; b -&gt; b) -&gt; b -&gt; [a] -&gt; b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63440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14400" y="4663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Haskell функции — значения первого класса: их можно передавать и возвращать как любые другие данные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Задача 1: map — преобразование списков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Применение функции к каждому элементу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749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Императивный подход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[]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xs: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result.append(f(x))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result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749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8348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Функциональный подход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645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f xs</a:t>
            </a:r>
            <a:endParaRPr lang="en-US" sz="18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691640"/>
            <a:ext cx="320040" cy="3200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0080" y="2788920"/>
            <a:ext cx="7863840" cy="192024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8680" y="28803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на Haskell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3108960"/>
            <a:ext cx="7406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Примеры использования map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(*2) [1,2,3,4,5]    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[2,4,6,8,10]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toUpper "hello"      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"HELLO"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(\x -&gt; x*x + 1) [1..5]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[2,5,10,17,26]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show [1,2,3]        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["1","2","3"]
-- Вложенный map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(map (*2)) [[1,2],[3,4]]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[[2,4],[6,8]]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14400" y="4663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сохраняет структуру списка: длина результата всегда равна длине аргумента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Задача</a:t>
            </a: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2: filter — фильтрация списков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Отбор элементов по предикату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749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 filter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p xs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оставляет только те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элементы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для которых предикат
</a:t>
            </a: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x == True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749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8348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Императивный аналог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645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[]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xs: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p(x):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result.append(x)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7863840" cy="192024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8803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на Haskell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108960"/>
            <a:ext cx="7406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Примеры использования filter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even [1..10]         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[2,4,6,8,10]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(&gt;3) [1,5,2,8,3]     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[5,8]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(\s -&gt; length s &gt; 3)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["hi","hello","ok","world"]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["hello","world"]
-- Комбинация map и filter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(*2) (filter even [1..10])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[4,8,12,16,20]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63440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14400" y="4663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не изменяет элементы — только решает, включать их в результат или нет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Задача</a:t>
            </a: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3: foldl и foldr — свёртка списков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Сведение списка к одному значению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749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foldl — свёртка слева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foldl f z [x1,x2,x3]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 (f (f z x1) x2) x3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(((z ⊕ x1) ⊕ x2) ⊕ x3)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Накапливает результат слева направо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749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8348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foldr — свёртка справа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6459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foldr f z [x1,x2,x3]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 x1 (f x2 (f x3 z))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(x1 ⊕ (x2 ⊕ (x3 ⊕ z)))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Строит выражение справа налево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7863840" cy="1478806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2004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на Haskell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429000"/>
            <a:ext cx="7406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Примеры свёрток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foldl (+) 0 [1,2,3,4,5]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-- 15 (сумма)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foldl (*) 1 [1,2,3,4,5]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-- 120 (факториал)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foldl max 0 [3,1,4,1,5,9]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-- 9 (максимум)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foldr (:) [] [1,2,3]    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[1,2,3] (копия списка)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foldr (++) "" ["a","b","c"]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"abc" (конкатенация)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63440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14400" y="4663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Используйте foldl' (строгий) вместо foldl для больших списков — избежите утечек памяти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Переписываем алгоритмы: сортировка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Quicksort через filter — элегантность ФП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3200400" cy="14677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969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quicksort на Haskell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106424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случай: пустой список
</a:t>
            </a:r>
            <a:r>
              <a:rPr lang="en-US" sz="11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Выбираем опорный элемент (pivot)
</a:t>
            </a:r>
            <a:r>
              <a:rPr lang="en-US" sz="11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(&lt;= pivot) — левая часть
</a:t>
            </a:r>
            <a:r>
              <a:rPr lang="en-US" sz="11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(&gt; pivot) — правая часть
</a:t>
            </a:r>
            <a:r>
              <a:rPr lang="en-US" sz="11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Рекурсивно сортируем и соединяем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960120"/>
            <a:ext cx="4343400" cy="146777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43400" y="9692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43400" y="1188720"/>
            <a:ext cx="4114800" cy="1239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2B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qsort</a:t>
            </a:r>
            <a:r>
              <a:rPr lang="en-US" sz="1100" dirty="0">
                <a:solidFill>
                  <a:srgbClr val="2B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:: Ord a =&gt; [a] -&gt; [a]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qsort [] = []
qsort (x:xs) =
  qsort smaller ++ [x] ++ qsort bigger
</a:t>
            </a: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
</a:t>
            </a: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smaller = filter (&lt;= x) xs
    bigger  = filter (&gt;  x) xs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647346"/>
            <a:ext cx="7863840" cy="1945675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64734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максимума и подсчёт элементов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864278"/>
            <a:ext cx="7406640" cy="1689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Поиск максимума через foldl1
</a:t>
            </a:r>
            <a:r>
              <a:rPr lang="en-US" sz="1100" dirty="0">
                <a:solidFill>
                  <a:srgbClr val="2B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maximum' :: Ord a =&gt; [a] -&gt; a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maximum' = foldl1 max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Подсчёт элементов, удовлетворяющих условию
</a:t>
            </a:r>
            <a:r>
              <a:rPr lang="en-US" sz="1100" dirty="0">
                <a:solidFill>
                  <a:srgbClr val="2B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countIf :: (a -&gt; Bool) -&gt; [a] -&gt; Int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countIf p = length . filter p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Пример: сколько чётных?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countIf even [1..10]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-- 5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63440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14400" y="4663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Композиция (.) позволяет строить конвейеры обработки данных без промежуточных переменных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Композиция функций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(.) и оператор ($) — конвейеры обработки данных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969264"/>
            <a:ext cx="3749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0607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(.)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380744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(.) :: (b -&gt; c) -&gt; (a -&gt; b) -&gt; a -&gt; c
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 . g) x = f (g x)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Читается справа налево: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применяем g, затем 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69264"/>
            <a:ext cx="3749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83480" y="10607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($)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380744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($) :: (a -&gt; b) -&gt; a -&gt; b
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$ x = f x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Устраняет скобки: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$ g $ h x  вместо  f (g (h x))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679192"/>
            <a:ext cx="7863840" cy="1984248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6791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на Haskell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999232"/>
            <a:ext cx="74066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Сравните: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(\x -&gt; negate (abs x)) [1,-2,3,-4]</a:t>
            </a:r>
            <a:r>
              <a:rPr lang="ru-RU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[-1,-2,-3,-4] 
</a:t>
            </a: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(negate . abs) [1,-2,3,-4]       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[-1,-2,-3,-4]
-- Конвейер </a:t>
            </a:r>
            <a:r>
              <a:rPr lang="en-US" sz="1100" dirty="0" err="1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обработки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данных</a:t>
            </a:r>
            <a:r>
              <a:rPr lang="ru-RU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"взять список, отфильтровать чётные, удвоить, посчитать сумму"
</a:t>
            </a:r>
            <a:r>
              <a:rPr lang="en-US" sz="1100" dirty="0" err="1">
                <a:solidFill>
                  <a:srgbClr val="2B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sumDoubleEvens</a:t>
            </a:r>
            <a:r>
              <a:rPr lang="en-US" sz="1100" dirty="0">
                <a:solidFill>
                  <a:srgbClr val="2B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:: [Int] -&gt; Int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sumDoubleEvens = sum . map (*2) . filter even
sumDoubleEvens [1..10]               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-- 60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63440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14400" y="4663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Композиция позволяет писать в «pointfree» стиле — определять функции без явного упоминания аргументов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Ещё примеры: от циклов к fold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Переписываем типичные императивные паттерны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65860"/>
            <a:ext cx="7863840" cy="27432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2573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переписывания императивных алгоритмов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79" y="1485900"/>
            <a:ext cx="3540411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-- Сумма квадратов чётных чисел от 1 до n
</a:t>
            </a:r>
            <a:r>
              <a:rPr lang="en-US" sz="1100" dirty="0">
                <a:solidFill>
                  <a:srgbClr val="2BA5B5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sumSqEven :: Int -&gt; Int
</a:t>
            </a:r>
            <a:r>
              <a:rPr lang="en-US" sz="1100" dirty="0">
                <a:solidFill>
                  <a:srgbClr val="E2E8F0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sumSqEven n = sum . map (^2) . filter even $ [1..n]
</a:t>
            </a:r>
            <a:r>
              <a:rPr lang="en-US" sz="1100" dirty="0">
                <a:solidFill>
                  <a:srgbClr val="6B7280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-- sumSqEven 10 = 220
-- Реверс списка через foldl
</a:t>
            </a:r>
            <a:r>
              <a:rPr lang="en-US" sz="1100" dirty="0">
                <a:solidFill>
                  <a:srgbClr val="2BA5B5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reverse' :: [a] -&gt; [a]
</a:t>
            </a:r>
            <a:r>
              <a:rPr lang="en-US" sz="1100" dirty="0">
                <a:solidFill>
                  <a:srgbClr val="E2E8F0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reverse' = foldl (\acc x -&gt; x : acc) []
</a:t>
            </a:r>
            <a:r>
              <a:rPr lang="en-US" sz="1100" dirty="0">
                <a:solidFill>
                  <a:srgbClr val="6B7280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-- или короче: foldl (flip (:)) []
</a:t>
            </a: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5196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4206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Паттерн: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цикл с аккумулятором можно заменить на </a:t>
            </a: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foldl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Цикл с условием — на </a:t>
            </a: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Цикл с преобразованием — на </a:t>
            </a: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8A705362-87A5-18D5-6E1C-DD5AF9D0A346}"/>
              </a:ext>
            </a:extLst>
          </p:cNvPr>
          <p:cNvSpPr/>
          <p:nvPr/>
        </p:nvSpPr>
        <p:spPr>
          <a:xfrm>
            <a:off x="4849209" y="1485900"/>
            <a:ext cx="3540411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-- Подсчёт вхождений элемента
</a:t>
            </a:r>
            <a:r>
              <a:rPr lang="en-US" sz="1100" dirty="0">
                <a:solidFill>
                  <a:srgbClr val="2BA5B5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count :: Eq a =&gt; a -&gt; [a] -&gt; Int
</a:t>
            </a:r>
            <a:r>
              <a:rPr lang="en-US" sz="1100" dirty="0">
                <a:solidFill>
                  <a:srgbClr val="E2E8F0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count x = length . filter (== x)
</a:t>
            </a:r>
            <a:r>
              <a:rPr lang="en-US" sz="1100" dirty="0">
                <a:solidFill>
                  <a:srgbClr val="6B7280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-- count 'a' "banana" = 3
-- Все ли элементы удовлетворяют условию?
</a:t>
            </a:r>
            <a:r>
              <a:rPr lang="en-US" sz="1100" dirty="0">
                <a:solidFill>
                  <a:srgbClr val="2BA5B5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all' :: (a -&gt; Bool) -&gt; [a] -&gt; Bool
</a:t>
            </a:r>
            <a:r>
              <a:rPr lang="en-US" sz="1100" dirty="0">
                <a:solidFill>
                  <a:srgbClr val="E2E8F0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all' p = foldl (\acc x -&gt; acc &amp;&amp; p x) True</a:t>
            </a: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Сводка: императивный → функциональный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паттерны замены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7863840" cy="2286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Императивный паттерн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5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Функция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5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Пример на Haskell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+ transform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map (*2) [1..5]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+ if + append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filter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filter even [1..10]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+ accumulator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foldl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foldl (+) 0 [1..10]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построение списка справа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foldr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foldr (:) [] xs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цепочка преобразований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(.) / ($)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 . map (*2) . filter even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через цикл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foldl1 max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foldl1 max [3,1,4,9]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634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4663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Функциональный стиль: описываем ЧТО делать, а не КАК — компилятор оптимизирует сам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731520"/>
            <a:ext cx="4114800" cy="4114800"/>
          </a:xfrm>
          <a:prstGeom prst="line">
            <a:avLst/>
          </a:prstGeom>
          <a:solidFill>
            <a:srgbClr val="1E3354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0" y="1188720"/>
            <a:ext cx="3200400" cy="3200400"/>
          </a:xfrm>
          <a:prstGeom prst="line">
            <a:avLst/>
          </a:prstGeom>
          <a:solidFill>
            <a:srgbClr val="182338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300" kern="0" spc="40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Лабораторное задание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931920" y="2103120"/>
            <a:ext cx="1280160" cy="45720"/>
          </a:xfrm>
          <a:prstGeom prst="rect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Реализуем свои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map, filter, foldl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Собственные версии через рекурсию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584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8016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55448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2880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10312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37744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5176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92608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7472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74904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4348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Реализуем свой map'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Применение функции к каждому элементу через рекурсию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749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43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Рассуждение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случай: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пустой список → возвращаем пустой список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Рекурсивный случай: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применяем f к голове, рекурсивно обрабатываем хвост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749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83480" y="1143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Паттерн структурной рекурсии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5087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Деконструируем список: (x:xs)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Обрабатываем голову: f x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Рекурсивно обрабатываем хвост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Собираем результат: (:)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7863840" cy="17373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8803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на Haskell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108960"/>
            <a:ext cx="7406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Собственная реализация map
</a:t>
            </a:r>
            <a:r>
              <a:rPr lang="en-US" sz="1100" dirty="0">
                <a:solidFill>
                  <a:srgbClr val="2B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map' :: ???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63440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14400" y="4663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«_ []» означает: неважно какая функция — для пустого списка результат всегда []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AE47BB-CB6C-C79B-BB81-EFA5C309A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F1195FB-4D25-92D3-8129-4CB00CED38E9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E82381-BFF2-36AB-5E9A-922BBCA96B8D}"/>
              </a:ext>
            </a:extLst>
          </p:cNvPr>
          <p:cNvSpPr/>
          <p:nvPr/>
        </p:nvSpPr>
        <p:spPr>
          <a:xfrm>
            <a:off x="64008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Реализуем свой map'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157F043-2FC9-4FAF-7C51-42ACB7C3E5A0}"/>
              </a:ext>
            </a:extLst>
          </p:cNvPr>
          <p:cNvSpPr/>
          <p:nvPr/>
        </p:nvSpPr>
        <p:spPr>
          <a:xfrm>
            <a:off x="640080" y="6583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Применение функции к каждому элементу через рекурсию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4CB8BD3-885D-7433-0323-73D723BC8C8A}"/>
              </a:ext>
            </a:extLst>
          </p:cNvPr>
          <p:cNvSpPr/>
          <p:nvPr/>
        </p:nvSpPr>
        <p:spPr>
          <a:xfrm>
            <a:off x="640080" y="1051560"/>
            <a:ext cx="3749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650F11F-B962-6674-480E-B1E33533EE09}"/>
              </a:ext>
            </a:extLst>
          </p:cNvPr>
          <p:cNvSpPr/>
          <p:nvPr/>
        </p:nvSpPr>
        <p:spPr>
          <a:xfrm>
            <a:off x="868680" y="1143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Рассуждение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DF24834-5895-77FB-C1D8-60A44A4E17D7}"/>
              </a:ext>
            </a:extLst>
          </p:cNvPr>
          <p:cNvSpPr/>
          <p:nvPr/>
        </p:nvSpPr>
        <p:spPr>
          <a:xfrm>
            <a:off x="868680" y="15087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случай: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пустой список → возвращаем пустой список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Рекурсивный случай: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применяем f к голове, рекурсивно обрабатываем хвост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0128226-1523-1DA3-0CC0-CDF13E493A90}"/>
              </a:ext>
            </a:extLst>
          </p:cNvPr>
          <p:cNvSpPr/>
          <p:nvPr/>
        </p:nvSpPr>
        <p:spPr>
          <a:xfrm>
            <a:off x="4754880" y="1051560"/>
            <a:ext cx="3749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84954F1-38D4-81DA-1D63-B79D0A270666}"/>
              </a:ext>
            </a:extLst>
          </p:cNvPr>
          <p:cNvSpPr/>
          <p:nvPr/>
        </p:nvSpPr>
        <p:spPr>
          <a:xfrm>
            <a:off x="4983480" y="1143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Паттерн структурной рекурсии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8D66218-2C50-6934-1083-B3BAD7634671}"/>
              </a:ext>
            </a:extLst>
          </p:cNvPr>
          <p:cNvSpPr/>
          <p:nvPr/>
        </p:nvSpPr>
        <p:spPr>
          <a:xfrm>
            <a:off x="4983480" y="15087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Деконструируем список: (x:xs)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Обрабатываем голову: f x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Рекурсивно обрабатываем хвост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Собираем результат: (:)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8319920-1F02-F6BE-8BAC-4CBDA563555A}"/>
              </a:ext>
            </a:extLst>
          </p:cNvPr>
          <p:cNvSpPr/>
          <p:nvPr/>
        </p:nvSpPr>
        <p:spPr>
          <a:xfrm>
            <a:off x="640080" y="2788920"/>
            <a:ext cx="7863840" cy="17373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8234057-84FA-89D3-C3B2-130AE13CA7D8}"/>
              </a:ext>
            </a:extLst>
          </p:cNvPr>
          <p:cNvSpPr/>
          <p:nvPr/>
        </p:nvSpPr>
        <p:spPr>
          <a:xfrm>
            <a:off x="868680" y="28803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на Haskell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E3B817B-D0E9-DFED-5308-E89450F499D3}"/>
              </a:ext>
            </a:extLst>
          </p:cNvPr>
          <p:cNvSpPr/>
          <p:nvPr/>
        </p:nvSpPr>
        <p:spPr>
          <a:xfrm>
            <a:off x="868680" y="3108960"/>
            <a:ext cx="7406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Собственная реализация map
</a:t>
            </a:r>
            <a:r>
              <a:rPr lang="en-US" sz="1100" dirty="0">
                <a:solidFill>
                  <a:srgbClr val="2B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map' :: (a -&gt; b) -&gt; [a] -&gt; [b]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map' _ []     = []               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базовый случай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map' f (x:xs) = f x : map' f xs  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рекурсивный случай
-- Проверка:
</a:t>
            </a: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map' (*2) [1,2,3]  =  [2,4,6]  ✓
-- map' show [1,2,3]  =  ["1","2","3"]  ✓</a:t>
            </a:r>
            <a:endParaRPr lang="en-US" sz="110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6548A38B-BAD3-D11C-1D96-C52FD9C78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63440"/>
            <a:ext cx="201168" cy="201168"/>
          </a:xfrm>
          <a:prstGeom prst="rect">
            <a:avLst/>
          </a:prstGeom>
        </p:spPr>
      </p:pic>
      <p:sp>
        <p:nvSpPr>
          <p:cNvPr id="15" name="Text 12">
            <a:extLst>
              <a:ext uri="{FF2B5EF4-FFF2-40B4-BE49-F238E27FC236}">
                <a16:creationId xmlns:a16="http://schemas.microsoft.com/office/drawing/2014/main" id="{3D83FA01-C427-6D5C-77A2-5A64A27CAF69}"/>
              </a:ext>
            </a:extLst>
          </p:cNvPr>
          <p:cNvSpPr/>
          <p:nvPr/>
        </p:nvSpPr>
        <p:spPr>
          <a:xfrm>
            <a:off x="914400" y="4663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«_ []» означает: неважно какая функция — для пустого списка результат всегда []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17251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Реализуем свой filter'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Отбор элементов по предикату через рекурсию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749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43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Рассуждение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случай: 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→ []
</a:t>
            </a:r>
            <a:r>
              <a:rPr lang="en-US" sz="1200" b="1" dirty="0" err="1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Рекурсивный</a:t>
            </a:r>
            <a:r>
              <a:rPr lang="en-US" sz="12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случай: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 голову предикатом. Если True — включаем, иначе — пропускаем.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749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83480" y="1143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Отличие от map'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463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map'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всегда включает элемент (преобразованный) в результат.
</a:t>
            </a: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filter'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включает элемент только если предикат возвращает True.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7863840" cy="20574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6060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на Haskell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92608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Собственная реализация filter
</a:t>
            </a:r>
            <a:r>
              <a:rPr lang="en-US" sz="1100" dirty="0">
                <a:solidFill>
                  <a:srgbClr val="2B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filter' :: ???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63440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14400" y="4663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(|) — удобный способ условного ветвления в Haskell, аналог if-else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28E756-5E90-6ABC-4781-A2092E87B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DB7373-A8C4-9244-BE1F-94A08E88F48C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8BCB50-3C78-9255-F959-274AA53383F7}"/>
              </a:ext>
            </a:extLst>
          </p:cNvPr>
          <p:cNvSpPr/>
          <p:nvPr/>
        </p:nvSpPr>
        <p:spPr>
          <a:xfrm>
            <a:off x="64008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Реализуем свой filter'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6E3777-A734-49ED-A973-9B54054F8663}"/>
              </a:ext>
            </a:extLst>
          </p:cNvPr>
          <p:cNvSpPr/>
          <p:nvPr/>
        </p:nvSpPr>
        <p:spPr>
          <a:xfrm>
            <a:off x="640080" y="6583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Отбор элементов по предикату через рекурсию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E89430E-2A3C-B101-ABBF-7BC564838D06}"/>
              </a:ext>
            </a:extLst>
          </p:cNvPr>
          <p:cNvSpPr/>
          <p:nvPr/>
        </p:nvSpPr>
        <p:spPr>
          <a:xfrm>
            <a:off x="640080" y="1051560"/>
            <a:ext cx="3749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248CE56-A7D7-3A14-1AC3-5C8F50043D3B}"/>
              </a:ext>
            </a:extLst>
          </p:cNvPr>
          <p:cNvSpPr/>
          <p:nvPr/>
        </p:nvSpPr>
        <p:spPr>
          <a:xfrm>
            <a:off x="868680" y="1143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Рассуждение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2F5E04D-0B2A-CC46-56F1-481EB358C8A7}"/>
              </a:ext>
            </a:extLst>
          </p:cNvPr>
          <p:cNvSpPr/>
          <p:nvPr/>
        </p:nvSpPr>
        <p:spPr>
          <a:xfrm>
            <a:off x="868680" y="1463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случай: 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→ []
</a:t>
            </a:r>
            <a:r>
              <a:rPr lang="en-US" sz="1200" b="1" dirty="0" err="1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Рекурсивный</a:t>
            </a:r>
            <a:r>
              <a:rPr lang="en-US" sz="12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случай: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 голову предикатом. Если True — включаем, иначе — пропускаем.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DEE6A9F-D751-6D10-3B09-C046E4EB39DD}"/>
              </a:ext>
            </a:extLst>
          </p:cNvPr>
          <p:cNvSpPr/>
          <p:nvPr/>
        </p:nvSpPr>
        <p:spPr>
          <a:xfrm>
            <a:off x="4754880" y="1051560"/>
            <a:ext cx="3749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D62AE78-3BB9-B953-878E-BD9FF424AB7A}"/>
              </a:ext>
            </a:extLst>
          </p:cNvPr>
          <p:cNvSpPr/>
          <p:nvPr/>
        </p:nvSpPr>
        <p:spPr>
          <a:xfrm>
            <a:off x="4983480" y="1143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Отличие от map'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E5E70E8-1933-5395-057B-8547CA80AC62}"/>
              </a:ext>
            </a:extLst>
          </p:cNvPr>
          <p:cNvSpPr/>
          <p:nvPr/>
        </p:nvSpPr>
        <p:spPr>
          <a:xfrm>
            <a:off x="4983480" y="1463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map'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всегда включает элемент (преобразованный) в результат.
</a:t>
            </a: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filter'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включает элемент только если предикат возвращает True.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CED0588-0E7C-1EC0-183B-3CF39842C872}"/>
              </a:ext>
            </a:extLst>
          </p:cNvPr>
          <p:cNvSpPr/>
          <p:nvPr/>
        </p:nvSpPr>
        <p:spPr>
          <a:xfrm>
            <a:off x="640080" y="2606040"/>
            <a:ext cx="7863840" cy="20574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57BA1F2-B25C-76B0-8704-835436E37F40}"/>
              </a:ext>
            </a:extLst>
          </p:cNvPr>
          <p:cNvSpPr/>
          <p:nvPr/>
        </p:nvSpPr>
        <p:spPr>
          <a:xfrm>
            <a:off x="868680" y="26060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на Haskell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A2BB0D2-304D-7809-4981-AB21F502EBD3}"/>
              </a:ext>
            </a:extLst>
          </p:cNvPr>
          <p:cNvSpPr/>
          <p:nvPr/>
        </p:nvSpPr>
        <p:spPr>
          <a:xfrm>
            <a:off x="868680" y="292608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Собственная реализация filter
</a:t>
            </a:r>
            <a:r>
              <a:rPr lang="en-US" sz="1100" dirty="0">
                <a:solidFill>
                  <a:srgbClr val="2B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filter' :: (a -&gt; Bool) -&gt; [a] -&gt; [a]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filter' _ []     = []
filter' p (x:xs)
</a:t>
            </a: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p x       = x : filter' p </a:t>
            </a:r>
            <a:r>
              <a:rPr lang="en-US" sz="1100" dirty="0" err="1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</a:t>
            </a: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включаем x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otherwise = filter' p xs     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пропускаем x
-- Проверка:
</a:t>
            </a: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filter' even [1..10]  =  [2,4,6,8,10]  ✓
-- filter' (&gt;3) [1,5,2,8] =  [5,8]  ✓</a:t>
            </a:r>
            <a:endParaRPr lang="en-US" sz="110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36EB49C8-58F6-5CA6-29E6-6B862B5D5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63440"/>
            <a:ext cx="201168" cy="201168"/>
          </a:xfrm>
          <a:prstGeom prst="rect">
            <a:avLst/>
          </a:prstGeom>
        </p:spPr>
      </p:pic>
      <p:sp>
        <p:nvSpPr>
          <p:cNvPr id="15" name="Text 12">
            <a:extLst>
              <a:ext uri="{FF2B5EF4-FFF2-40B4-BE49-F238E27FC236}">
                <a16:creationId xmlns:a16="http://schemas.microsoft.com/office/drawing/2014/main" id="{EF1EBBA2-F1CE-0DBE-A00F-A8440173A75C}"/>
              </a:ext>
            </a:extLst>
          </p:cNvPr>
          <p:cNvSpPr/>
          <p:nvPr/>
        </p:nvSpPr>
        <p:spPr>
          <a:xfrm>
            <a:off x="914400" y="4663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(|) — удобный способ условного ветвления в Haskell, аналог if-else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48267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Реализуем свой foldl'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Левая свёртка с аккумулятором через рекурсию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017270"/>
            <a:ext cx="3749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0871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Рассуждение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47447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случай: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пустой список → возвращаем аккумулятор z
</a:t>
            </a:r>
            <a:r>
              <a:rPr lang="en-US" sz="1200" b="1" dirty="0" err="1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Рекурсивный</a:t>
            </a:r>
            <a:r>
              <a:rPr lang="en-US" sz="12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случай: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обновляем аккумулятор: (f z x), продолжаем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хвостом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 err="1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</a:t>
            </a: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хвостовая рекурсия!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17270"/>
            <a:ext cx="3749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83480" y="110871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Трассировка вычислений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42875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foldl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(+) 0 [1,2,3]
= </a:t>
            </a:r>
            <a:r>
              <a:rPr lang="en-US" sz="10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foldl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(+) (0+1) [2,3]
</a:t>
            </a: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000" dirty="0" err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foldl</a:t>
            </a: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(+) 1 [2,3]
= </a:t>
            </a:r>
            <a:r>
              <a:rPr lang="en-US" sz="1000" dirty="0" err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foldl</a:t>
            </a: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(+) 3 [3]
= </a:t>
            </a:r>
            <a:r>
              <a:rPr lang="en-US" sz="1000" dirty="0" err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foldl</a:t>
            </a: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(+) 6 []
</a:t>
            </a: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674620"/>
            <a:ext cx="7863840" cy="190881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7203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на Haskell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994660"/>
            <a:ext cx="7406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Собственная реализация foldl
</a:t>
            </a:r>
            <a:r>
              <a:rPr lang="en-US" sz="1100" dirty="0">
                <a:solidFill>
                  <a:srgbClr val="2B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foldl' :: ???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63440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14400" y="4663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foldl' — самая мощная функция: через неё можно выразить map, filter, length, reverse и многие другие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B96357-CE50-599C-E046-9E5DBC297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7E5044-E5E2-B83A-55F9-44814EE9641E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BCA0A5A-39FB-26BD-7B1D-D44CD9ED8C25}"/>
              </a:ext>
            </a:extLst>
          </p:cNvPr>
          <p:cNvSpPr/>
          <p:nvPr/>
        </p:nvSpPr>
        <p:spPr>
          <a:xfrm>
            <a:off x="64008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Реализуем свой foldl'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CD57E64-C765-F2F5-A558-DB665AC5C323}"/>
              </a:ext>
            </a:extLst>
          </p:cNvPr>
          <p:cNvSpPr/>
          <p:nvPr/>
        </p:nvSpPr>
        <p:spPr>
          <a:xfrm>
            <a:off x="640080" y="6583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Левая свёртка с аккумулятором через рекурсию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CDD70F1-165F-698C-9B97-958E3DFF538D}"/>
              </a:ext>
            </a:extLst>
          </p:cNvPr>
          <p:cNvSpPr/>
          <p:nvPr/>
        </p:nvSpPr>
        <p:spPr>
          <a:xfrm>
            <a:off x="640080" y="1017270"/>
            <a:ext cx="3749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CA13D03-0906-69A8-14C9-9C551A501AE4}"/>
              </a:ext>
            </a:extLst>
          </p:cNvPr>
          <p:cNvSpPr/>
          <p:nvPr/>
        </p:nvSpPr>
        <p:spPr>
          <a:xfrm>
            <a:off x="868680" y="110871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Рассуждение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6965923-B6BF-C06A-6991-5E2A8F4173F1}"/>
              </a:ext>
            </a:extLst>
          </p:cNvPr>
          <p:cNvSpPr/>
          <p:nvPr/>
        </p:nvSpPr>
        <p:spPr>
          <a:xfrm>
            <a:off x="868680" y="147447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случай: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пустой список → возвращаем аккумулятор z
</a:t>
            </a:r>
            <a:r>
              <a:rPr lang="en-US" sz="1200" b="1" dirty="0" err="1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Рекурсивный</a:t>
            </a:r>
            <a:r>
              <a:rPr lang="en-US" sz="12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случай: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обновляем аккумулятор: (f z x), продолжаем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хвостом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 err="1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</a:t>
            </a: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хвостовая рекурсия!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A066A5F-5EF0-ACD9-B3A0-12D29494FE8A}"/>
              </a:ext>
            </a:extLst>
          </p:cNvPr>
          <p:cNvSpPr/>
          <p:nvPr/>
        </p:nvSpPr>
        <p:spPr>
          <a:xfrm>
            <a:off x="4754880" y="1017270"/>
            <a:ext cx="3749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9FBC414-64CC-7C82-E260-9D1D6423B53C}"/>
              </a:ext>
            </a:extLst>
          </p:cNvPr>
          <p:cNvSpPr/>
          <p:nvPr/>
        </p:nvSpPr>
        <p:spPr>
          <a:xfrm>
            <a:off x="4983480" y="110871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Трассировка вычислений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E493CC6-4539-F805-E03A-E811560313EC}"/>
              </a:ext>
            </a:extLst>
          </p:cNvPr>
          <p:cNvSpPr/>
          <p:nvPr/>
        </p:nvSpPr>
        <p:spPr>
          <a:xfrm>
            <a:off x="4983480" y="142875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foldl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(+) 0 [1,2,3]
= </a:t>
            </a:r>
            <a:r>
              <a:rPr lang="en-US" sz="10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foldl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(+) (0+1) [2,3]
</a:t>
            </a: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000" dirty="0" err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foldl</a:t>
            </a: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(+) 1 [2,3]
= </a:t>
            </a:r>
            <a:r>
              <a:rPr lang="en-US" sz="1000" dirty="0" err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foldl</a:t>
            </a: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(+) 3 [3]
= </a:t>
            </a:r>
            <a:r>
              <a:rPr lang="en-US" sz="1000" dirty="0" err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foldl</a:t>
            </a: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(+) 6 []
</a:t>
            </a: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6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04D236D-C6DB-4D1D-25FC-F484FCF36200}"/>
              </a:ext>
            </a:extLst>
          </p:cNvPr>
          <p:cNvSpPr/>
          <p:nvPr/>
        </p:nvSpPr>
        <p:spPr>
          <a:xfrm>
            <a:off x="640080" y="2674620"/>
            <a:ext cx="7863840" cy="190881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17946B1-AE45-FB1E-7002-D534D68C5749}"/>
              </a:ext>
            </a:extLst>
          </p:cNvPr>
          <p:cNvSpPr/>
          <p:nvPr/>
        </p:nvSpPr>
        <p:spPr>
          <a:xfrm>
            <a:off x="868680" y="27203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на Haskell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DD54398-989A-AB70-4FD7-03095C784403}"/>
              </a:ext>
            </a:extLst>
          </p:cNvPr>
          <p:cNvSpPr/>
          <p:nvPr/>
        </p:nvSpPr>
        <p:spPr>
          <a:xfrm>
            <a:off x="868680" y="2994660"/>
            <a:ext cx="7406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Собственная реализация foldl
</a:t>
            </a:r>
            <a:r>
              <a:rPr lang="en-US" sz="1100" dirty="0">
                <a:solidFill>
                  <a:srgbClr val="2B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foldl' :: (b -&gt; a -&gt; b) -&gt; b -&gt; [a] -&gt; b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foldl' _ z []     = z             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вернуть аккумулятор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foldl' f z (x:xs) = foldl' f (f z x) xs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-- обновить и продолжить
-- Проверка:
</a:t>
            </a: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foldl' (+) 0 [1..5]  =  15  ✓
-- foldl' (*) 1 [1..5]  =  120  ✓
-- foldl' (\acc x -&gt; x:acc) [] [1,2,3]  =  [3,2,1]  ✓</a:t>
            </a:r>
            <a:endParaRPr lang="en-US" sz="110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306EF4B6-179A-E0C1-200C-293CC21D5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63440"/>
            <a:ext cx="201168" cy="201168"/>
          </a:xfrm>
          <a:prstGeom prst="rect">
            <a:avLst/>
          </a:prstGeom>
        </p:spPr>
      </p:pic>
      <p:sp>
        <p:nvSpPr>
          <p:cNvPr id="15" name="Text 12">
            <a:extLst>
              <a:ext uri="{FF2B5EF4-FFF2-40B4-BE49-F238E27FC236}">
                <a16:creationId xmlns:a16="http://schemas.microsoft.com/office/drawing/2014/main" id="{4D86997D-5045-79E5-A32D-B3688E809A6B}"/>
              </a:ext>
            </a:extLst>
          </p:cNvPr>
          <p:cNvSpPr/>
          <p:nvPr/>
        </p:nvSpPr>
        <p:spPr>
          <a:xfrm>
            <a:off x="914400" y="4663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foldl' — самая мощная функция: через неё можно выразить map, filter, length, reverse и многие другие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92769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Бонус: map и filter через foldr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Свёртка — универсальный оператор над списками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7863840" cy="28803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0058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Универсальность fold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325880"/>
            <a:ext cx="74066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map через foldr
</a:t>
            </a:r>
            <a:r>
              <a:rPr lang="en-US" sz="1100" dirty="0">
                <a:solidFill>
                  <a:srgbClr val="2B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mapF :: (a -&gt; b) -&gt; [a] -&gt; [b]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mapF f = foldr (\x acc -&gt; f x : acc) []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filter через foldr
</a:t>
            </a:r>
            <a:r>
              <a:rPr lang="en-US" sz="1100" dirty="0">
                <a:solidFill>
                  <a:srgbClr val="2B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filterF :: (a -&gt; Bool) -&gt; [a] -&gt; [a]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filterF p = foldr (\x acc -&gt; if p x then x:acc else acc) []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length через foldl
</a:t>
            </a:r>
            <a:r>
              <a:rPr lang="en-US" sz="1100" dirty="0">
                <a:solidFill>
                  <a:srgbClr val="2B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length' :: [a] -&gt; Int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length' = foldl (\acc _ -&gt; acc + 1) 0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concat через foldr
</a:t>
            </a:r>
            <a:r>
              <a:rPr lang="en-US" sz="1100" dirty="0">
                <a:solidFill>
                  <a:srgbClr val="2BA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concat' :: [[a]] -&gt; [a]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concat' = foldr (++) []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7863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148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40233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Теорема: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любая функция, обрабатывающая список рекурсивно, может быть выражена через </a:t>
            </a: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foldr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Это означает, что fold — это фундаментальная операция над списками, а map и filter — лишь частные случаи.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Итоги занятия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801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344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 высшего порядка — ключевой инструмент ФП, принимают/возвращают функции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19072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6733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преобразует каждый элемент, filter отбирает по условию, fold сворачивает список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57984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211226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императивный цикл с аккумулятором заменяется на foldl или foldr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96896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255117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Композиция (.) и ($) позволяют строить элегантные конвейеры обработки данных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35808"/>
            <a:ext cx="22860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88720" y="299008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filter и foldl реализуются через структурную рекурсию (паттерн [], (x:xs))</a:t>
            </a:r>
            <a:endParaRPr lang="en-US" sz="12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74720"/>
            <a:ext cx="228600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88720" y="34290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— универсальная операция: через неё выражаются map, filter, length, reverse</a:t>
            </a:r>
            <a:endParaRPr lang="en-US" sz="1200" dirty="0"/>
          </a:p>
        </p:txBody>
      </p:sp>
      <p:sp>
        <p:nvSpPr>
          <p:cNvPr id="17" name="Shape 9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0"/>
          <p:cNvSpPr/>
          <p:nvPr/>
        </p:nvSpPr>
        <p:spPr>
          <a:xfrm>
            <a:off x="731520" y="3977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Следующее занятие: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работа №1 — сортировка слиянием, quicksort, BFS/DFS в функциональном стиле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line">
            <a:avLst/>
          </a:prstGeom>
          <a:solidFill>
            <a:srgbClr val="1E3354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0" y="1097280"/>
            <a:ext cx="3291840" cy="3291840"/>
          </a:xfrm>
          <a:prstGeom prst="line">
            <a:avLst/>
          </a:prstGeom>
          <a:solidFill>
            <a:srgbClr val="182338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Вопросы?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657600" y="2834640"/>
            <a:ext cx="1828800" cy="45720"/>
          </a:xfrm>
          <a:prstGeom prst="rect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2, Часть 2: Функции высшего порядка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56616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0584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28016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55448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82880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10312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37744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65176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92608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0040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7472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749040" y="4617720"/>
            <a:ext cx="109728" cy="109728"/>
          </a:xfrm>
          <a:prstGeom prst="line">
            <a:avLst/>
          </a:prstGeom>
          <a:solidFill>
            <a:srgbClr val="2BA5B5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2632</Words>
  <Application>Microsoft Macintosh PowerPoint</Application>
  <PresentationFormat>On-screen Show (16:9)</PresentationFormat>
  <Paragraphs>224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Модуль 2, Часть 2: Функции высшего порядка</dc:title>
  <dc:subject>PptxGenJS Presentation</dc:subject>
  <dc:creator>Курс ФП на Haskell</dc:creator>
  <cp:lastModifiedBy>Evgeny Zimin</cp:lastModifiedBy>
  <cp:revision>8</cp:revision>
  <dcterms:created xsi:type="dcterms:W3CDTF">2026-02-15T17:59:35Z</dcterms:created>
  <dcterms:modified xsi:type="dcterms:W3CDTF">2026-02-16T15:48:43Z</dcterms:modified>
</cp:coreProperties>
</file>